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9" r:id="rId6"/>
  </p:sldMasterIdLst>
  <p:notesMasterIdLst>
    <p:notesMasterId r:id="rId7"/>
  </p:notesMasterIdLst>
  <p:sldIdLst>
    <p:sldId id="256" r:id="rId19"/>
    <p:sldId id="257" r:id="rId20"/>
    <p:sldId id="258" r:id="rId18"/>
    <p:sldId id="259" r:id="rId17"/>
    <p:sldId id="260" r:id="rId16"/>
    <p:sldId id="261" r:id="rId15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32"/>
    <p:sldId id="270" r:id="rId33"/>
    <p:sldId id="271" r:id="rId34"/>
    <p:sldId id="272" r:id="rId35"/>
    <p:sldId id="273" r:id="rId36"/>
    <p:sldId id="274" r:id="rId37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0zUqa6F0VHpBTiiW8BhshF6Qk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3A51EF-184A-46A6-AAA9-DEB9D13C2DF7}">
  <a:tblStyle styleId="{6F3A51EF-184A-46A6-AAA9-DEB9D13C2D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ge1a9588eba_0_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ge1a9588eba_0_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ge1a9588eba_0_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ge1a9588eba_0_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{6F3A51EF-184A-46A6-AAA9-DEB9D13C2DF7}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ge1a9588eba_0_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ge1a9588eba_0_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e1a9588eba_0_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e1a9588eba_0_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ge1a9588eba_0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e1a9588eba_0_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e1a9588eba_0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e1a9588eba_0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ge1a9588eba_0_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ge1a9588eba_0_42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e1a9588eba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5" name="Google Shape;65;g10ee00f67ea_0_104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10ee00f67ea_0_104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8" name="Google Shape;68;g10ee00f67ea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10ee00f67ea_0_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ee00f67ea_0_71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2" name="Google Shape;72;g10ee00f67ea_0_71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00f67ea_0_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5" name="Google Shape;75;g10ee00f67ea_0_7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0ee00f67ea_0_7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8" name="Google Shape;78;g10ee00f67ea_0_7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9" name="Google Shape;79;g10ee00f67ea_0_7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00f67ea_0_8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2" name="Google Shape;82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{6F3A51EF-184A-46A6-AAA9-DEB9D13C2DF7}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3" name="Google Shape;83;g10ee00f67ea_0_8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ee00f67ea_0_8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g10ee00f67ea_0_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g10ee00f67ea_0_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10ee00f67ea_0_8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ee00f67ea_0_9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1" name="Google Shape;91;g10ee00f67ea_0_9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00f67ea_0_9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g10ee00f67ea_0_9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0ee00f67ea_0_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g10ee00f67ea_0_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g10ee00f67ea_0_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00" name="Google Shape;100;g10ee00f67ea_0_9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ee00f67ea_0_10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ge1a9588eba_0_0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ee00f67ea_0_6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6" name="Google Shape;56;g10ee00f67ea_0_6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7" name="Google Shape;57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g10ee00f67ea_0_6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g10ee00f67ea_0_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1" name="Google Shape;61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— Final Presentation</a:t>
            </a:r>
          </a:p>
          <a:p>
            <a:r>
              <a:t>Group &lt;&lt; n &gt;&gt;  ·  Batch &lt;&lt; year &gt;&gt;  ·  Mentor: &lt;&lt; Name &gt;&gt;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 /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Executive Summary</a:t>
            </a:r>
          </a:p>
          <a:p>
            <a:pPr/>
            <a:r>
              <a:rPr sz="1400"/>
              <a:t>Business Problem Overview &amp; Solution Approach</a:t>
            </a:r>
          </a:p>
          <a:p>
            <a:pPr/>
            <a:r>
              <a:rPr sz="1400"/>
              <a:t>Data Overview &amp; Preprocessing</a:t>
            </a:r>
          </a:p>
          <a:p>
            <a:pPr/>
            <a:r>
              <a:rPr sz="1400"/>
              <a:t>Exploratory Data Analysis (EDA) Outcomes</a:t>
            </a:r>
          </a:p>
          <a:p>
            <a:pPr/>
            <a:r>
              <a:rPr sz="1400"/>
              <a:t>Model Selection &amp; Metrics of Interest</a:t>
            </a:r>
          </a:p>
          <a:p>
            <a:pPr/>
            <a:r>
              <a:rPr sz="1400"/>
              <a:t>Model Performance &amp; Final Model</a:t>
            </a:r>
          </a:p>
          <a:p>
            <a:pPr/>
            <a:r>
              <a:rPr sz="1400"/>
              <a:t>Explainability (Permutation + SHAP)</a:t>
            </a:r>
          </a:p>
          <a:p>
            <a:pPr/>
            <a:r>
              <a:rPr sz="1400"/>
              <a:t>Business Insights &amp; Recommendations</a:t>
            </a:r>
          </a:p>
          <a:p>
            <a:pPr/>
            <a:r>
              <a:rPr sz="1400"/>
              <a:t>Deployment Showcase</a:t>
            </a:r>
          </a:p>
          <a:p>
            <a:pPr/>
            <a:r>
              <a:rPr sz="1400"/>
              <a:t>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Problem: estimate an applicant's insurance_cost from health, lifestyle, habit, and demographic data to support fair pricing and risk triage.</a:t>
            </a:r>
          </a:p>
          <a:p>
            <a:pPr/>
            <a:r>
              <a:rPr sz="1400"/>
              <a:t>Final model: LightGBM — Test R² = 0.958, MAE = 2,328, RMSE = 2,909 (beats the reference solution).</a:t>
            </a:r>
          </a:p>
          <a:p>
            <a:pPr/>
            <a:r>
              <a:rPr sz="1400"/>
              <a:t>13 model families compared; tuned with RandomizedSearchCV &amp; Optuna; XGBoost/CatBoost on GPU.</a:t>
            </a:r>
          </a:p>
          <a:p>
            <a:pPr/>
            <a:r>
              <a:rPr sz="1400"/>
              <a:t>Key drivers: weight, admission history, other-insurer coverage, preventive checkups.</a:t>
            </a:r>
          </a:p>
          <a:p>
            <a:pPr/>
            <a:r>
              <a:rPr sz="1400"/>
              <a:t>Deployed as a leak-free sklearn pipeline via FastAPI + a React UI + a Streamlit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Overview &amp; Solution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Problem: healthcare costs are high; insurers must price policies to balance affordability against risk. Estimate the optimum insurance cost per individual (target: insurance_cost).</a:t>
            </a:r>
          </a:p>
          <a:p>
            <a:pPr/>
            <a:r>
              <a:rPr sz="1400"/>
              <a:t>Solution approach:</a:t>
            </a:r>
          </a:p>
          <a:p>
            <a:pPr lvl="1"/>
            <a:r>
              <a:rPr sz="1200"/>
              <a:t>Audit &amp; clean the data; fix schema/category quality issues.</a:t>
            </a:r>
          </a:p>
          <a:p>
            <a:pPr lvl="1"/>
            <a:r>
              <a:rPr sz="1200"/>
              <a:t>Treat missing values and outliers; engineer risk-oriented features.</a:t>
            </a:r>
          </a:p>
          <a:p>
            <a:pPr lvl="1"/>
            <a:r>
              <a:rPr sz="1200"/>
              <a:t>Compare baseline, linear, tree, and boosting models with cross-validation.</a:t>
            </a:r>
          </a:p>
          <a:p>
            <a:pPr lvl="1"/>
            <a:r>
              <a:rPr sz="1200"/>
              <a:t>Tune the best family; select on RMSE/MAE/R² + stability + overfit gap.</a:t>
            </a:r>
          </a:p>
          <a:p>
            <a:pPr lvl="1"/>
            <a:r>
              <a:rPr sz="1200"/>
              <a:t>Explain the model and deploy it for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25,000 applicants × 24 columns; one row per applicant; no duplicate rows.</a:t>
            </a:r>
          </a:p>
          <a:p>
            <a:pPr/>
            <a:r>
              <a:rPr sz="1400"/>
              <a:t>Target insurance_cost: mean ≈ 27,147, mild right skew (≈ 0.33).</a:t>
            </a:r>
          </a:p>
          <a:p>
            <a:pPr/>
            <a:r>
              <a:rPr sz="1400"/>
              <a:t>Missing values in only two columns:</a:t>
            </a:r>
          </a:p>
          <a:p>
            <a:pPr lvl="1"/>
            <a:r>
              <a:rPr sz="1200"/>
              <a:t>Year_last_admitted — 47.5% (meaningful: indicates no prior admission)</a:t>
            </a:r>
          </a:p>
          <a:p>
            <a:pPr lvl="1"/>
            <a:r>
              <a:rPr sz="1200"/>
              <a:t>bmi — 4.0% (imputed by age-band × gender median)</a:t>
            </a:r>
          </a:p>
          <a:p>
            <a:pPr/>
            <a:r>
              <a:rPr sz="1400"/>
              <a:t>Mixed types: continuous, discrete counts, binary flags, nominal &amp; ordinal categoricals.</a:t>
            </a:r>
          </a:p>
          <a:p>
            <a:pPr/>
            <a:r>
              <a:rPr sz="1400"/>
              <a:t>Fixed source typos in column names and the 'Salried' → 'Salaried'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Distributions of Continuous Attributes</a:t>
            </a:r>
          </a:p>
        </p:txBody>
      </p:sp>
      <p:pic>
        <p:nvPicPr>
          <p:cNvPr id="3" name="Picture 2" descr="univariate_continu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006" y="960120"/>
            <a:ext cx="1867988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7320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Target is mildly right-skewed; weight, BMI, glucose, and steps are roughly symmetric.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Key Relationships</a:t>
            </a:r>
          </a:p>
        </p:txBody>
      </p:sp>
      <p:pic>
        <p:nvPicPr>
          <p:cNvPr id="3" name="Picture 2" descr="boxplot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69720"/>
            <a:ext cx="4572000" cy="243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0515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weight has an unusually strong positive link to cost — the dominant signal.</a:t>
            </a:r>
          </a:p>
          <a:p>
            <a:pPr>
              <a:spcAft>
                <a:spcPts val="600"/>
              </a:spcAft>
              <a:defRPr sz="1300"/>
            </a:pPr>
            <a:r>
              <a:t>• Higher cost for applicants covered by another insurer and adventure-sports participants.</a:t>
            </a:r>
          </a:p>
          <a:p>
            <a:pPr>
              <a:spcAft>
                <a:spcPts val="600"/>
              </a:spcAft>
              <a:defRPr sz="1300"/>
            </a:pPr>
            <a:r>
              <a:t>• Admission history adds useful risk information.</a:t>
            </a:r>
          </a:p>
          <a:p>
            <a:pPr>
              <a:spcAft>
                <a:spcPts val="600"/>
              </a:spcAft>
              <a:defRPr sz="1300"/>
            </a:pPr>
            <a:r>
              <a:t>• Lifestyle effects act mainly through nonlinear interactions captured by boosting.</a:t>
            </a:r>
          </a:p>
          <a:p>
            <a:pPr>
              <a:spcAft>
                <a:spcPts val="600"/>
              </a:spcAft>
              <a:defRPr sz="1200"/>
            </a:pPr>
            <a:r>
              <a:t>   – Flagged: validate weight dominance for plausibility/leakage.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Duplicate check: none; dropped applicant_id (non-predictive identifier).</a:t>
            </a:r>
          </a:p>
          <a:p>
            <a:pPr/>
            <a:r>
              <a:rPr sz="1400"/>
              <a:t>Missing values: grouped-median BMI imputation; Year_last_admitted → was_admitted_before + years_since_last_admitted.</a:t>
            </a:r>
          </a:p>
          <a:p>
            <a:pPr/>
            <a:r>
              <a:rPr sz="1400"/>
              <a:t>Outliers: capped unrealistic BMI; retained valid high-premium targets.</a:t>
            </a:r>
          </a:p>
          <a:p>
            <a:pPr/>
            <a:r>
              <a:rPr sz="1400"/>
              <a:t>Feature engineering: age_band, bmi_category, cholesterol_midpoint, any_major_disease_history, weight_bmi_interaction, steps_per_age.</a:t>
            </a:r>
          </a:p>
          <a:p>
            <a:pPr/>
            <a:r>
              <a:rPr sz="1400"/>
              <a:t>Leak-free sklearn Pipeline: feature engineering → impute + scale + one-hot → model (fit on training data only).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&amp; Metrics of Interest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Baseline: DummyRegressor (mean) and LinearRegression.</a:t>
            </a:r>
          </a:p>
          <a:p>
            <a:pPr/>
            <a:r>
              <a:rPr sz="1400"/>
              <a:t>Advanced: Ridge/Lasso/ElasticNet, DecisionTree/RandomForest/ExtraTrees, and boosting (GradientBoosting, HistGradientBoosting, XGBoost, LightGBM, CatBoost).</a:t>
            </a:r>
          </a:p>
          <a:p>
            <a:pPr/>
            <a:r>
              <a:rPr sz="1400"/>
              <a:t>Metrics of interest:</a:t>
            </a:r>
          </a:p>
          <a:p>
            <a:pPr lvl="1"/>
            <a:r>
              <a:rPr sz="1200"/>
              <a:t>MAE — average pricing error in cost units (primary, business-readable).</a:t>
            </a:r>
          </a:p>
          <a:p>
            <a:pPr lvl="1"/>
            <a:r>
              <a:rPr sz="1200"/>
              <a:t>RMSE — penalises larger errors; R² — variance explained.</a:t>
            </a:r>
          </a:p>
          <a:p>
            <a:pPr lvl="1"/>
            <a:r>
              <a:rPr sz="1200"/>
              <a:t>MAPE/SMAPE — percentage errors; CV RMSE &amp; train-test gap — stability/overfit.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 (top models by test RMSE)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Train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Test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Test MAE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2,334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2,345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2,368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2,428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2,489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&amp; Evaluation — LightGBM</a:t>
            </a:r>
          </a:p>
        </p:txBody>
      </p:sp>
      <p:pic>
        <p:nvPicPr>
          <p:cNvPr id="3" name="Picture 2" descr="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09689"/>
            <a:ext cx="4572000" cy="1758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0515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Selected for lowest test RMSE/MAE, strong R², stable CV, small train/test gap.</a:t>
            </a:r>
          </a:p>
          <a:p>
            <a:pPr>
              <a:spcAft>
                <a:spcPts val="600"/>
              </a:spcAft>
              <a:defRPr sz="1300"/>
            </a:pPr>
            <a:r>
              <a:t>• Test MAE: 2,328</a:t>
            </a:r>
          </a:p>
          <a:p>
            <a:pPr>
              <a:spcAft>
                <a:spcPts val="600"/>
              </a:spcAft>
              <a:defRPr sz="1300"/>
            </a:pPr>
            <a:r>
              <a:t>• Test RMSE: 2,909</a:t>
            </a:r>
          </a:p>
          <a:p>
            <a:pPr>
              <a:spcAft>
                <a:spcPts val="600"/>
              </a:spcAft>
              <a:defRPr sz="1300"/>
            </a:pPr>
            <a:r>
              <a:t>• Test R²: 0.9585</a:t>
            </a:r>
          </a:p>
          <a:p>
            <a:pPr>
              <a:spcAft>
                <a:spcPts val="600"/>
              </a:spcAft>
              <a:defRPr sz="1300"/>
            </a:pPr>
            <a:r>
              <a:t>• Test MAPE: 11.3%</a:t>
            </a:r>
          </a:p>
          <a:p>
            <a:pPr>
              <a:spcAft>
                <a:spcPts val="600"/>
              </a:spcAft>
              <a:defRPr sz="1300"/>
            </a:pPr>
            <a:r>
              <a:t>• Residuals centred &amp; homoscedastic; predictions track actuals.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— Permutation + SHAP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57" y="1005840"/>
            <a:ext cx="3814205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0515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Two independent methods agree on the drivers:</a:t>
            </a:r>
          </a:p>
          <a:p>
            <a:pPr>
              <a:spcAft>
                <a:spcPts val="600"/>
              </a:spcAft>
              <a:defRPr sz="1200"/>
            </a:pPr>
            <a:r>
              <a:t>   – weight (dominant)</a:t>
            </a:r>
          </a:p>
          <a:p>
            <a:pPr>
              <a:spcAft>
                <a:spcPts val="600"/>
              </a:spcAft>
              <a:defRPr sz="1200"/>
            </a:pPr>
            <a:r>
              <a:t>   – admission recency / history</a:t>
            </a:r>
          </a:p>
          <a:p>
            <a:pPr>
              <a:spcAft>
                <a:spcPts val="600"/>
              </a:spcAft>
              <a:defRPr sz="1200"/>
            </a:pPr>
            <a:r>
              <a:t>   – other-insurer coverage</a:t>
            </a:r>
          </a:p>
          <a:p>
            <a:pPr>
              <a:spcAft>
                <a:spcPts val="600"/>
              </a:spcAft>
              <a:defRPr sz="1200"/>
            </a:pPr>
            <a:r>
              <a:t>   – preventive checkups, weight change</a:t>
            </a:r>
          </a:p>
          <a:p>
            <a:pPr>
              <a:spcAft>
                <a:spcPts val="600"/>
              </a:spcAft>
              <a:defRPr sz="1300"/>
            </a:pPr>
            <a:r>
              <a:t>• SHAP shows effect direction (higher weight → higher cost).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— Lift / Gains</a:t>
            </a:r>
          </a:p>
        </p:txBody>
      </p:sp>
      <p:pic>
        <p:nvPicPr>
          <p:cNvPr id="3" name="Picture 2" descr="decile_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97612"/>
            <a:ext cx="4572000" cy="1582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0515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• Applicants sorted by predicted cost into deciles.</a:t>
            </a:r>
          </a:p>
          <a:p>
            <a:pPr>
              <a:spcAft>
                <a:spcPts val="600"/>
              </a:spcAft>
              <a:defRPr sz="1300"/>
            </a:pPr>
            <a:r>
              <a:t>• Top deciles carry lift well above 1.0.</a:t>
            </a:r>
          </a:p>
          <a:p>
            <a:pPr>
              <a:spcAft>
                <a:spcPts val="600"/>
              </a:spcAft>
              <a:defRPr sz="1300"/>
            </a:pPr>
            <a:r>
              <a:t>• Cumulative-gains curve sits above random.</a:t>
            </a:r>
          </a:p>
          <a:p>
            <a:pPr>
              <a:spcAft>
                <a:spcPts val="600"/>
              </a:spcAft>
              <a:defRPr sz="1300"/>
            </a:pPr>
            <a:r>
              <a:t>• → Effective ranking for underwriting triage and</a:t>
            </a:r>
          </a:p>
          <a:p>
            <a:pPr>
              <a:spcAft>
                <a:spcPts val="600"/>
              </a:spcAft>
              <a:defRPr sz="1200"/>
            </a:pPr>
            <a:r>
              <a:t>   – targeting high-cost segments.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Use as pricing decision-support, not automated underwriting (track override rate).</a:t>
            </a:r>
          </a:p>
          <a:p>
            <a:pPr/>
            <a:r>
              <a:rPr sz="1400"/>
              <a:t>Route extreme predictions (top decile) to manual review (reduce mispriced policies).</a:t>
            </a:r>
          </a:p>
          <a:p>
            <a:pPr/>
            <a:r>
              <a:rPr sz="1400"/>
              <a:t>Target wellness programmes at high-risk segments (weight, checkups, activity).</a:t>
            </a:r>
          </a:p>
          <a:p>
            <a:pPr/>
            <a:r>
              <a:rPr sz="1400"/>
              <a:t>Governance: review Gender/Location for fairness; validate weight dominance for leakage.</a:t>
            </a:r>
          </a:p>
          <a:p>
            <a:pPr/>
            <a:r>
              <a:rPr sz="1400"/>
              <a:t>Monitor drift, segment-level error, and override rates post-deployment.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Showcase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Production pipeline saved as one sklearn artifact (models/final_model.pkl).</a:t>
            </a:r>
          </a:p>
          <a:p>
            <a:pPr/>
            <a:r>
              <a:rPr sz="1400"/>
              <a:t>FastAPI service: /health, /schema, /predict → cost + Low/Medium/High risk + top drivers.</a:t>
            </a:r>
          </a:p>
          <a:p>
            <a:pPr/>
            <a:r>
              <a:rPr sz="1400"/>
              <a:t>React + TypeScript + Tailwind UI, built dynamically from the API schema.</a:t>
            </a:r>
          </a:p>
          <a:p>
            <a:pPr/>
            <a:r>
              <a:rPr sz="1400"/>
              <a:t>Streamlit app for a one-click demo of the same model.</a:t>
            </a:r>
          </a:p>
          <a:p>
            <a:pPr/>
            <a:r>
              <a:rPr sz="1400"/>
              <a:t>GPU acceleration (XGBoost/CatBoost); reproducible via `uv run python -m insurance.train`.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Data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Source: Insurance Data.csv — 25,000 rows × 24 columns; target insurance_cost.</a:t>
            </a:r>
          </a:p>
          <a:p>
            <a:pPr/>
            <a:r>
              <a:rPr sz="1400"/>
              <a:t>Predictors span profile (age, gender, occupation, location), health (bmi, glucose, cholesterol, disease history), habits (smoking, alcohol, exercise, steps), and policy fields.</a:t>
            </a:r>
          </a:p>
          <a:p>
            <a:pPr/>
            <a:r>
              <a:rPr sz="1400"/>
              <a:t>Full data dictionary: reports/tables/data_dictionary.csv; model comparison &amp; importance tables under reports/tables/.</a:t>
            </a:r>
          </a:p>
          <a:p>
            <a:pPr/>
            <a:r>
              <a:rPr sz="1400"/>
              <a:t>Limitations: dataset provenance unknown; weight dominance needs plausibility/leakage review; predictors must be available at quote time; expand fairness testing before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Permutation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960120"/>
            <a:ext cx="5705856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7320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Permutation importance of input features for the final LightGBM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Nishchay Sahu</dc:creator>
</cp:coreProperties>
</file>