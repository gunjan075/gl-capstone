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  <p:sldMasterId id="2147483659" r:id="rId6"/>
  </p:sldMasterIdLst>
  <p:notesMasterIdLst>
    <p:notesMasterId r:id="rId7"/>
  </p:notesMasterIdLst>
  <p:sldIdLst>
    <p:sldId id="256" r:id="rId19"/>
    <p:sldId id="257" r:id="rId20"/>
    <p:sldId id="258" r:id="rId18"/>
    <p:sldId id="259" r:id="rId17"/>
    <p:sldId id="260" r:id="rId16"/>
    <p:sldId id="261" r:id="rId15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32"/>
    <p:sldId id="270" r:id="rId33"/>
    <p:sldId id="271" r:id="rId34"/>
    <p:sldId id="272" r:id="rId35"/>
    <p:sldId id="273" r:id="rId36"/>
    <p:sldId id="274" r:id="rId37"/>
  </p:sldIdLst>
  <p:sldSz cy="5143500" cx="9144000"/>
  <p:notesSz cx="6858000" cy="9144000"/>
  <p:embeddedFontLst>
    <p:embeddedFont>
      <p:font typeface="Nunito SemiBold"/>
      <p:regular r:id="rId21"/>
      <p:bold r:id="rId22"/>
      <p:italic r:id="rId23"/>
      <p:boldItalic r:id="rId24"/>
    </p:embeddedFont>
    <p:embeddedFont>
      <p:font typeface="Nunito"/>
      <p:regular r:id="rId25"/>
      <p:bold r:id="rId26"/>
      <p:italic r:id="rId27"/>
      <p:boldItalic r:id="rId28"/>
    </p:embeddedFont>
    <p:embeddedFont>
      <p:font typeface="Nunito ExtraBold"/>
      <p:bold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1" roundtripDataSignature="AMtx7mg0zUqa6F0VHpBTiiW8BhshF6Qk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3A51EF-184A-46A6-AAA9-DEB9D13C2DF7}">
  <a:tblStyle styleId="{6F3A51EF-184A-46A6-AAA9-DEB9D13C2D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6.xml"/><Relationship Id="rId16" Type="http://schemas.openxmlformats.org/officeDocument/2006/relationships/slide" Target="slides/slide5.xml"/><Relationship Id="rId17" Type="http://schemas.openxmlformats.org/officeDocument/2006/relationships/slide" Target="slides/slide4.xml"/><Relationship Id="rId18" Type="http://schemas.openxmlformats.org/officeDocument/2006/relationships/slide" Target="slides/slide3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font" Target="fonts/NunitoSemiBold-regular.fntdata"/><Relationship Id="rId22" Type="http://schemas.openxmlformats.org/officeDocument/2006/relationships/font" Target="fonts/NunitoSemiBold-bold.fntdata"/><Relationship Id="rId23" Type="http://schemas.openxmlformats.org/officeDocument/2006/relationships/font" Target="fonts/NunitoSemiBold-italic.fntdata"/><Relationship Id="rId24" Type="http://schemas.openxmlformats.org/officeDocument/2006/relationships/font" Target="fonts/NunitoSemiBold-boldItalic.fntdata"/><Relationship Id="rId25" Type="http://schemas.openxmlformats.org/officeDocument/2006/relationships/font" Target="fonts/Nunito-regular.fntdata"/><Relationship Id="rId26" Type="http://schemas.openxmlformats.org/officeDocument/2006/relationships/font" Target="fonts/Nunito-bold.fntdata"/><Relationship Id="rId27" Type="http://schemas.openxmlformats.org/officeDocument/2006/relationships/font" Target="fonts/Nunito-italic.fntdata"/><Relationship Id="rId28" Type="http://schemas.openxmlformats.org/officeDocument/2006/relationships/font" Target="fonts/Nunito-boldItalic.fntdata"/><Relationship Id="rId29" Type="http://schemas.openxmlformats.org/officeDocument/2006/relationships/font" Target="fonts/NunitoExtraBold-bold.fntdata"/><Relationship Id="rId30" Type="http://schemas.openxmlformats.org/officeDocument/2006/relationships/font" Target="fonts/NunitoExtraBold-boldItalic.fntdata"/><Relationship Id="rId31" Type="http://customschemas.google.com/relationships/presentationmetadata" Target="metadata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e1a9588eba_0_9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6" name="Google Shape;16;ge1a9588eba_0_9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e1a9588eba_0_1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9" name="Google Shape;19;ge1a9588eba_0_15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ge1a9588eba_0_1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e1a9588eba_0_1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ge1a9588eba_0_1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e1a9588eba_0_19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ge1a9588eba_0_19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{6F3A51EF-184A-46A6-AAA9-DEB9D13C2DF7}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ge1a9588eba_0_1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e1a9588eba_0_23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ge1a9588eba_0_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ge1a9588eba_0_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ge1a9588eba_0_2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e1a9588eba_0_28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ge1a9588eba_0_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e1a9588eba_0_3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ge1a9588eba_0_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e1a9588eba_0_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ge1a9588eba_0_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ge1a9588eba_0_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ge1a9588eba_0_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ge1a9588eba_0_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e1a9588eba_0_4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e1a9588eba_0_42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ge1a9588eba_0_42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ge1a9588eba_0_42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ge1a9588eba_0_42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ge1a9588eba_0_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e1a9588eba_0_4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0ee00f67ea_0_104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65" name="Google Shape;65;g10ee00f67ea_0_104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10ee00f67ea_0_104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g10ee00f67ea_0_104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68" name="Google Shape;68;g10ee00f67ea_0_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g10ee00f67ea_0_10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10ee00f67ea_0_71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2" name="Google Shape;72;g10ee00f67ea_0_71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0ee00f67ea_0_7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75" name="Google Shape;75;g10ee00f67ea_0_7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0ee00f67ea_0_7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8" name="Google Shape;78;g10ee00f67ea_0_77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9" name="Google Shape;79;g10ee00f67ea_0_7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0ee00f67ea_0_8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82" name="Google Shape;82;g10ee00f67ea_0_81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{6F3A51EF-184A-46A6-AAA9-DEB9D13C2DF7}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83" name="Google Shape;83;g10ee00f67ea_0_8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0ee00f67ea_0_8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g10ee00f67ea_0_8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g10ee00f67ea_0_8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g10ee00f67ea_0_8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0ee00f67ea_0_9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1" name="Google Shape;91;g10ee00f67ea_0_9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0ee00f67ea_0_9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4" name="Google Shape;94;g10ee00f67ea_0_9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0ee00f67ea_0_9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10ee00f67ea_0_9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8" name="Google Shape;98;g10ee00f67ea_0_9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9" name="Google Shape;99;g10ee00f67ea_0_9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00" name="Google Shape;100;g10ee00f67ea_0_9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0ee00f67ea_0_10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e1a9588eba_0_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ge1a9588eba_0_0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ge1a9588eba_0_0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ge1a9588eba_0_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ge1a9588eba_0_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ge1a9588eba_0_0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ge1a9588eba_0_0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e1a9588eba_0_0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ee00f67ea_0_6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56" name="Google Shape;56;g10ee00f67ea_0_62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57" name="Google Shape;57;g10ee00f67ea_0_62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g10ee00f67ea_0_6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9" name="Google Shape;59;g10ee00f67ea_0_6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" name="Google Shape;60;g10ee00f67ea_0_62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61" name="Google Shape;61;g10ee00f67ea_0_62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g10ee00f67ea_0_62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mc:AlternateContent>
    <mc:Choice Requires="p14">
      <p:transition p14:dur="0">
        <p:fade thruBlk="1"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Insurance Price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Capstone Project - Final Presentation</a:t>
            </a:r>
          </a:p>
          <a:p>
            <a:r>
              <a:t>Group &lt;&lt; n &gt;&gt;  -  Batch &lt;&lt; year &gt;&gt;  -  Mentor: &lt;&lt; Name &gt;&gt;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 /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Executive Summary</a:t>
            </a:r>
          </a:p>
          <a:p>
            <a:pPr/>
            <a:r>
              <a:rPr sz="1400"/>
              <a:t>Business Problem Overview &amp; Solution Approach</a:t>
            </a:r>
          </a:p>
          <a:p>
            <a:pPr/>
            <a:r>
              <a:rPr sz="1400"/>
              <a:t>Data Overview &amp; Preprocessing</a:t>
            </a:r>
          </a:p>
          <a:p>
            <a:pPr/>
            <a:r>
              <a:rPr sz="1400"/>
              <a:t>Exploratory Data Analysis (EDA) Outcomes</a:t>
            </a:r>
          </a:p>
          <a:p>
            <a:pPr/>
            <a:r>
              <a:rPr sz="1400"/>
              <a:t>Model Selection &amp; Metrics of Interest</a:t>
            </a:r>
          </a:p>
          <a:p>
            <a:pPr/>
            <a:r>
              <a:rPr sz="1400"/>
              <a:t>Model Performance &amp; Final Model</a:t>
            </a:r>
          </a:p>
          <a:p>
            <a:pPr/>
            <a:r>
              <a:rPr sz="1400"/>
              <a:t>Explainability (Permutation + SHAP)</a:t>
            </a:r>
          </a:p>
          <a:p>
            <a:pPr/>
            <a:r>
              <a:rPr sz="1400"/>
              <a:t>Business Insights &amp; Recommendations</a:t>
            </a:r>
          </a:p>
          <a:p>
            <a:pPr/>
            <a:r>
              <a:rPr sz="1400"/>
              <a:t>Deployment</a:t>
            </a:r>
          </a:p>
          <a:p>
            <a:pPr/>
            <a:r>
              <a:rPr sz="1400"/>
              <a:t>Appendix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Problem: estimate an applicant's insurance_cost from health, lifestyle, habit, and demographic data to support fair pricing and risk triage.</a:t>
            </a:r>
          </a:p>
          <a:p>
            <a:pPr/>
            <a:r>
              <a:rPr sz="1400"/>
              <a:t>Final model: LightGBM - Test R2 = 0.958, MAE = 2,328, RMSE = 2,909 (beats the reference solution).</a:t>
            </a:r>
          </a:p>
          <a:p>
            <a:pPr/>
            <a:r>
              <a:rPr sz="1400"/>
              <a:t>13 model families compared; tuned with RandomizedSearchCV &amp; Optuna; XGBoost/CatBoost on GPU.</a:t>
            </a:r>
          </a:p>
          <a:p>
            <a:pPr/>
            <a:r>
              <a:rPr sz="1400"/>
              <a:t>Key drivers: weight, admission history, other-insurer coverage, preventive checkups.</a:t>
            </a:r>
          </a:p>
          <a:p>
            <a:pPr/>
            <a:r>
              <a:rPr sz="1400"/>
              <a:t>Deployed as a leak-free sklearn pipeline via FastAPI + a React UI + a Streamlit 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 Overview &amp; Solution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Problem: healthcare costs are high; insurers must price policies to balance affordability against risk. Estimate the optimum insurance cost per individual (target: insurance_cost).</a:t>
            </a:r>
          </a:p>
          <a:p>
            <a:pPr/>
            <a:r>
              <a:rPr sz="1400"/>
              <a:t>Solution approach:</a:t>
            </a:r>
          </a:p>
          <a:p>
            <a:pPr lvl="1"/>
            <a:r>
              <a:rPr sz="1200"/>
              <a:t>Audit &amp; clean the data; fix schema/category quality issues.</a:t>
            </a:r>
          </a:p>
          <a:p>
            <a:pPr lvl="1"/>
            <a:r>
              <a:rPr sz="1200"/>
              <a:t>Treat missing values and outliers; engineer risk-oriented features.</a:t>
            </a:r>
          </a:p>
          <a:p>
            <a:pPr lvl="1"/>
            <a:r>
              <a:rPr sz="1200"/>
              <a:t>Compare baseline, linear, tree, and boosting models with cross-validation.</a:t>
            </a:r>
          </a:p>
          <a:p>
            <a:pPr lvl="1"/>
            <a:r>
              <a:rPr sz="1200"/>
              <a:t>Tune the best family; select on RMSE/MAE/R2 + stability + overfit gap.</a:t>
            </a:r>
          </a:p>
          <a:p>
            <a:pPr lvl="1"/>
            <a:r>
              <a:rPr sz="1200"/>
              <a:t>Explain the model and deploy it for inference.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25,000 applicants x 24 columns; one row per applicant; no duplicate rows.</a:t>
            </a:r>
          </a:p>
          <a:p>
            <a:pPr/>
            <a:r>
              <a:rPr sz="1400"/>
              <a:t>Target insurance_cost: mean ~ 27,147, mild right skew (~ 0.33).</a:t>
            </a:r>
          </a:p>
          <a:p>
            <a:pPr/>
            <a:r>
              <a:rPr sz="1400"/>
              <a:t>Missing values in only two columns:</a:t>
            </a:r>
          </a:p>
          <a:p>
            <a:pPr lvl="1"/>
            <a:r>
              <a:rPr sz="1200"/>
              <a:t>Year_last_admitted - 47.5% (meaningful: indicates no prior admission)</a:t>
            </a:r>
          </a:p>
          <a:p>
            <a:pPr lvl="1"/>
            <a:r>
              <a:rPr sz="1200"/>
              <a:t>bmi - 4.0% (imputed by age-band x gender median)</a:t>
            </a:r>
          </a:p>
          <a:p>
            <a:pPr/>
            <a:r>
              <a:rPr sz="1400"/>
              <a:t>Mixed types: continuous, discrete counts, binary flags, nominal &amp; ordinal categoricals.</a:t>
            </a:r>
          </a:p>
          <a:p>
            <a:pPr/>
            <a:r>
              <a:rPr sz="1400"/>
              <a:t>Fixed source typos in column names and the 'Salried' -&gt; 'Salaried' category.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Distributions of Continuous Attributes</a:t>
            </a:r>
          </a:p>
        </p:txBody>
      </p:sp>
      <p:pic>
        <p:nvPicPr>
          <p:cNvPr id="3" name="Picture 2" descr="univariate_continu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006" y="960120"/>
            <a:ext cx="186798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7320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4748B"/>
                </a:solidFill>
              </a:defRPr>
            </a:pPr>
            <a:r>
              <a:t>Target is mildly right-skewed; weight, BMI, glucose, and steps are roughly symmetric.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Key Relationships</a:t>
            </a:r>
          </a:p>
        </p:txBody>
      </p:sp>
      <p:pic>
        <p:nvPicPr>
          <p:cNvPr id="3" name="Picture 2" descr="boxplots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9720"/>
            <a:ext cx="4572000" cy="243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0515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- weight has an unusually strong positive link to cost - the dominant signal.</a:t>
            </a:r>
          </a:p>
          <a:p>
            <a:pPr>
              <a:spcAft>
                <a:spcPts val="600"/>
              </a:spcAft>
              <a:defRPr sz="1300"/>
            </a:pPr>
            <a:r>
              <a:t>- Higher cost for applicants covered by another insurer and adventure-sports participants.</a:t>
            </a:r>
          </a:p>
          <a:p>
            <a:pPr>
              <a:spcAft>
                <a:spcPts val="600"/>
              </a:spcAft>
              <a:defRPr sz="1300"/>
            </a:pPr>
            <a:r>
              <a:t>- Admission history adds useful risk information.</a:t>
            </a:r>
          </a:p>
          <a:p>
            <a:pPr>
              <a:spcAft>
                <a:spcPts val="600"/>
              </a:spcAft>
              <a:defRPr sz="1300"/>
            </a:pPr>
            <a:r>
              <a:t>- Lifestyle effects act mainly through nonlinear interactions captured by boosting.</a:t>
            </a:r>
          </a:p>
          <a:p>
            <a:pPr>
              <a:spcAft>
                <a:spcPts val="600"/>
              </a:spcAft>
              <a:defRPr sz="1200"/>
            </a:pPr>
            <a:r>
              <a:t>   - Flagged: validate weight dominance for plausibility/leakage.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Duplicate check: none; dropped applicant_id (non-predictive identifier).</a:t>
            </a:r>
          </a:p>
          <a:p>
            <a:pPr/>
            <a:r>
              <a:rPr sz="1400"/>
              <a:t>Missing values: grouped-median BMI imputation; Year_last_admitted -&gt; was_admitted_before + years_since_last_admitted.</a:t>
            </a:r>
          </a:p>
          <a:p>
            <a:pPr/>
            <a:r>
              <a:rPr sz="1400"/>
              <a:t>Outliers: capped unrealistic BMI; retained valid high-premium targets.</a:t>
            </a:r>
          </a:p>
          <a:p>
            <a:pPr/>
            <a:r>
              <a:rPr sz="1400"/>
              <a:t>Feature engineering: age_band, bmi_category, cholesterol_midpoint, any_major_disease_history, weight_bmi_interaction, steps_per_age.</a:t>
            </a:r>
          </a:p>
          <a:p>
            <a:pPr/>
            <a:r>
              <a:rPr sz="1400"/>
              <a:t>Leak-free sklearn Pipeline: feature engineering -&gt; impute + scale + one-hot -&gt; model (fit on training data only).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Selection &amp; Metrics of Interest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Baseline: DummyRegressor (mean) and LinearRegression.</a:t>
            </a:r>
          </a:p>
          <a:p>
            <a:pPr/>
            <a:r>
              <a:rPr sz="1400"/>
              <a:t>Advanced: Ridge/Lasso/ElasticNet, DecisionTree/RandomForest/ExtraTrees, and boosting (GradientBoosting, HistGradientBoosting, XGBoost, LightGBM, CatBoost).</a:t>
            </a:r>
          </a:p>
          <a:p>
            <a:pPr/>
            <a:r>
              <a:rPr sz="1400"/>
              <a:t>Metrics of interest:</a:t>
            </a:r>
          </a:p>
          <a:p>
            <a:pPr lvl="1"/>
            <a:r>
              <a:rPr sz="1200"/>
              <a:t>MAE - average pricing error in cost units (primary, business-readable).</a:t>
            </a:r>
          </a:p>
          <a:p>
            <a:pPr lvl="1"/>
            <a:r>
              <a:rPr sz="1200"/>
              <a:t>RMSE - penalises larger errors; R2 - variance explained.</a:t>
            </a:r>
          </a:p>
          <a:p>
            <a:pPr lvl="1"/>
            <a:r>
              <a:rPr sz="1200"/>
              <a:t>MAPE/SMAPE - percentage errors; CV RMSE &amp; train-test gap - stability/overfit.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Summary (top models by test RMSE)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8412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Train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Test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Test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Test MAE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2,328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2,334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CatBoost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2,929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2,345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2,368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RandomForest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3,006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2,381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3,034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2,428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3,153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2,489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Model &amp; Evaluation - LightGBM</a:t>
            </a:r>
          </a:p>
        </p:txBody>
      </p:sp>
      <p:pic>
        <p:nvPicPr>
          <p:cNvPr id="3" name="Picture 2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689"/>
            <a:ext cx="4572000" cy="17584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0515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- Selected for lowest test RMSE/MAE, strong R2, stable CV, small train/test gap.</a:t>
            </a:r>
          </a:p>
          <a:p>
            <a:pPr>
              <a:spcAft>
                <a:spcPts val="600"/>
              </a:spcAft>
              <a:defRPr sz="1300"/>
            </a:pPr>
            <a:r>
              <a:t>- Test MAE: 2,328</a:t>
            </a:r>
          </a:p>
          <a:p>
            <a:pPr>
              <a:spcAft>
                <a:spcPts val="600"/>
              </a:spcAft>
              <a:defRPr sz="1300"/>
            </a:pPr>
            <a:r>
              <a:t>- Test RMSE: 2,909</a:t>
            </a:r>
          </a:p>
          <a:p>
            <a:pPr>
              <a:spcAft>
                <a:spcPts val="600"/>
              </a:spcAft>
              <a:defRPr sz="1300"/>
            </a:pPr>
            <a:r>
              <a:t>- Test R2: 0.9585</a:t>
            </a:r>
          </a:p>
          <a:p>
            <a:pPr>
              <a:spcAft>
                <a:spcPts val="600"/>
              </a:spcAft>
              <a:defRPr sz="1300"/>
            </a:pPr>
            <a:r>
              <a:t>- Test MAPE: 11.3%</a:t>
            </a:r>
          </a:p>
          <a:p>
            <a:pPr>
              <a:spcAft>
                <a:spcPts val="600"/>
              </a:spcAft>
              <a:defRPr sz="1300"/>
            </a:pPr>
            <a:r>
              <a:t>- Residuals centred &amp; homoscedastic; predictions track actuals.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Explainability - Permutation + SHAP</a:t>
            </a:r>
          </a:p>
        </p:txBody>
      </p:sp>
      <p:pic>
        <p:nvPicPr>
          <p:cNvPr id="3" name="Picture 2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57" y="1005840"/>
            <a:ext cx="3814205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0515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- Two independent methods agree on the drivers:</a:t>
            </a:r>
          </a:p>
          <a:p>
            <a:pPr>
              <a:spcAft>
                <a:spcPts val="600"/>
              </a:spcAft>
              <a:defRPr sz="1200"/>
            </a:pPr>
            <a:r>
              <a:t>   - weight (dominant)</a:t>
            </a:r>
          </a:p>
          <a:p>
            <a:pPr>
              <a:spcAft>
                <a:spcPts val="600"/>
              </a:spcAft>
              <a:defRPr sz="1200"/>
            </a:pPr>
            <a:r>
              <a:t>   - admission recency / history</a:t>
            </a:r>
          </a:p>
          <a:p>
            <a:pPr>
              <a:spcAft>
                <a:spcPts val="600"/>
              </a:spcAft>
              <a:defRPr sz="1200"/>
            </a:pPr>
            <a:r>
              <a:t>   - other-insurer coverage</a:t>
            </a:r>
          </a:p>
          <a:p>
            <a:pPr>
              <a:spcAft>
                <a:spcPts val="600"/>
              </a:spcAft>
              <a:defRPr sz="1200"/>
            </a:pPr>
            <a:r>
              <a:t>   - preventive checkups, weight change</a:t>
            </a:r>
          </a:p>
          <a:p>
            <a:pPr>
              <a:spcAft>
                <a:spcPts val="600"/>
              </a:spcAft>
              <a:defRPr sz="1300"/>
            </a:pPr>
            <a:r>
              <a:t>- SHAP shows effect direction (higher weight -&gt; higher cost).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Insights - Lift / Gains</a:t>
            </a:r>
          </a:p>
        </p:txBody>
      </p:sp>
      <p:pic>
        <p:nvPicPr>
          <p:cNvPr id="3" name="Picture 2" descr="decile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97612"/>
            <a:ext cx="4572000" cy="15826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0515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- Applicants sorted by predicted cost into deciles.</a:t>
            </a:r>
          </a:p>
          <a:p>
            <a:pPr>
              <a:spcAft>
                <a:spcPts val="600"/>
              </a:spcAft>
              <a:defRPr sz="1300"/>
            </a:pPr>
            <a:r>
              <a:t>- Top deciles carry lift well above 1.0.</a:t>
            </a:r>
          </a:p>
          <a:p>
            <a:pPr>
              <a:spcAft>
                <a:spcPts val="600"/>
              </a:spcAft>
              <a:defRPr sz="1300"/>
            </a:pPr>
            <a:r>
              <a:t>- Cumulative-gains curve sits above random.</a:t>
            </a:r>
          </a:p>
          <a:p>
            <a:pPr>
              <a:spcAft>
                <a:spcPts val="600"/>
              </a:spcAft>
              <a:defRPr sz="1300"/>
            </a:pPr>
            <a:r>
              <a:t>- -&gt; Effective ranking for underwriting triage and</a:t>
            </a:r>
          </a:p>
          <a:p>
            <a:pPr>
              <a:spcAft>
                <a:spcPts val="600"/>
              </a:spcAft>
              <a:defRPr sz="1200"/>
            </a:pPr>
            <a:r>
              <a:t>   - targeting high-cost segments.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Use as pricing decision-support, not automated underwriting (track override rate).</a:t>
            </a:r>
          </a:p>
          <a:p>
            <a:pPr/>
            <a:r>
              <a:rPr sz="1400"/>
              <a:t>Route extreme predictions (top decile) to manual review (reduce mispriced policies).</a:t>
            </a:r>
          </a:p>
          <a:p>
            <a:pPr/>
            <a:r>
              <a:rPr sz="1400"/>
              <a:t>Target wellness programmes at high-risk segments (weight, checkups, activity).</a:t>
            </a:r>
          </a:p>
          <a:p>
            <a:pPr/>
            <a:r>
              <a:rPr sz="1400"/>
              <a:t>Governance: review Gender/Location for fairness; validate weight dominance for leakage.</a:t>
            </a:r>
          </a:p>
          <a:p>
            <a:pPr/>
            <a:r>
              <a:rPr sz="1400"/>
              <a:t>Monitor drift, segment-level error, and override rates post-deployment.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Production pipeline saved as one sklearn artifact (models/final_model.pkl).</a:t>
            </a:r>
          </a:p>
          <a:p>
            <a:pPr/>
            <a:r>
              <a:rPr sz="1400"/>
              <a:t>FastAPI service: /health, /schema, /predict -&gt; cost + Low/Medium/High risk + top drivers.</a:t>
            </a:r>
          </a:p>
          <a:p>
            <a:pPr/>
            <a:r>
              <a:rPr sz="1400"/>
              <a:t>React + TypeScript + Tailwind UI, built dynamically from the API schema.</a:t>
            </a:r>
          </a:p>
          <a:p>
            <a:pPr/>
            <a:r>
              <a:rPr sz="1400"/>
              <a:t>Streamlit app for a one-click demo of the same model.</a:t>
            </a:r>
          </a:p>
          <a:p>
            <a:pPr/>
            <a:r>
              <a:rPr sz="1400"/>
              <a:t>GPU acceleration (XGBoost/CatBoost); reproducible via `uv run python -m insurance.train`.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- Data Background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400"/>
              <a:t>Source: Insurance Data.csv - 25,000 rows x 24 columns; target insurance_cost.</a:t>
            </a:r>
          </a:p>
          <a:p>
            <a:pPr/>
            <a:r>
              <a:rPr sz="1400"/>
              <a:t>Predictors span profile (age, gender, occupation, location), health (bmi, glucose, cholesterol, disease history), habits (smoking, alcohol, exercise, steps), and policy fields.</a:t>
            </a:r>
          </a:p>
          <a:p>
            <a:pPr/>
            <a:r>
              <a:rPr sz="1400"/>
              <a:t>Full data dictionary: reports/tables/data_dictionary.csv; model comparison &amp; importance tables under reports/tables/.</a:t>
            </a:r>
          </a:p>
          <a:p>
            <a:pPr/>
            <a:r>
              <a:rPr sz="1400"/>
              <a:t>Limitations: dataset provenance unknown; weight dominance needs plausibility/leakage review; predictors must be available at quote time; expand fairness testing before production.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- Permutation Importance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960120"/>
            <a:ext cx="5705856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7320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4748B"/>
                </a:solidFill>
              </a:defRPr>
            </a:pPr>
            <a:r>
              <a:t>Permutation importance of input features for the final LightGBM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Nishchay Sahu</dc:creator>
</cp:coreProperties>
</file>