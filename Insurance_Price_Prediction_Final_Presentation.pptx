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5"/>
    <p:sldMasterId id="2147483659" r:id="rId6"/>
  </p:sldMasterIdLst>
  <p:notesMasterIdLst>
    <p:notesMasterId r:id="rId7"/>
  </p:notesMasterIdLst>
  <p:sldIdLst>
    <p:sldId id="256" r:id="rId19"/>
    <p:sldId id="257" r:id="rId20"/>
    <p:sldId id="258" r:id="rId18"/>
    <p:sldId id="259" r:id="rId17"/>
    <p:sldId id="260" r:id="rId16"/>
    <p:sldId id="261" r:id="rId15"/>
    <p:sldId id="262" r:id="rId14"/>
    <p:sldId id="263" r:id="rId13"/>
    <p:sldId id="264" r:id="rId12"/>
    <p:sldId id="265" r:id="rId11"/>
    <p:sldId id="266" r:id="rId10"/>
    <p:sldId id="267" r:id="rId9"/>
    <p:sldId id="268" r:id="rId8"/>
    <p:sldId id="269" r:id="rId32"/>
    <p:sldId id="270" r:id="rId33"/>
    <p:sldId id="271" r:id="rId34"/>
    <p:sldId id="272" r:id="rId35"/>
    <p:sldId id="273" r:id="rId36"/>
    <p:sldId id="274" r:id="rId37"/>
  </p:sldIdLst>
  <p:sldSz cy="5143500" cx="9144000"/>
  <p:notesSz cx="6858000" cy="9144000"/>
  <p:embeddedFontLst>
    <p:embeddedFont>
      <p:font typeface="Nunito SemiBold"/>
      <p:regular r:id="rId21"/>
      <p:bold r:id="rId22"/>
      <p:italic r:id="rId23"/>
      <p:boldItalic r:id="rId24"/>
    </p:embeddedFont>
    <p:embeddedFont>
      <p:font typeface="Nunito"/>
      <p:regular r:id="rId25"/>
      <p:bold r:id="rId26"/>
      <p:italic r:id="rId27"/>
      <p:boldItalic r:id="rId28"/>
    </p:embeddedFont>
    <p:embeddedFont>
      <p:font typeface="Nunito ExtraBold"/>
      <p:bold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31" roundtripDataSignature="AMtx7mg0zUqa6F0VHpBTiiW8BhshF6Qk2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F3A51EF-184A-46A6-AAA9-DEB9D13C2DF7}">
  <a:tblStyle styleId="{6F3A51EF-184A-46A6-AAA9-DEB9D13C2D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5B9BD5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5B9BD5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slide" Target="slides/slide10.xml"/><Relationship Id="rId12" Type="http://schemas.openxmlformats.org/officeDocument/2006/relationships/slide" Target="slides/slide9.xml"/><Relationship Id="rId13" Type="http://schemas.openxmlformats.org/officeDocument/2006/relationships/slide" Target="slides/slide8.xml"/><Relationship Id="rId14" Type="http://schemas.openxmlformats.org/officeDocument/2006/relationships/slide" Target="slides/slide7.xml"/><Relationship Id="rId15" Type="http://schemas.openxmlformats.org/officeDocument/2006/relationships/slide" Target="slides/slide6.xml"/><Relationship Id="rId16" Type="http://schemas.openxmlformats.org/officeDocument/2006/relationships/slide" Target="slides/slide5.xml"/><Relationship Id="rId17" Type="http://schemas.openxmlformats.org/officeDocument/2006/relationships/slide" Target="slides/slide4.xml"/><Relationship Id="rId18" Type="http://schemas.openxmlformats.org/officeDocument/2006/relationships/slide" Target="slides/slide3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font" Target="fonts/NunitoSemiBold-regular.fntdata"/><Relationship Id="rId22" Type="http://schemas.openxmlformats.org/officeDocument/2006/relationships/font" Target="fonts/NunitoSemiBold-bold.fntdata"/><Relationship Id="rId23" Type="http://schemas.openxmlformats.org/officeDocument/2006/relationships/font" Target="fonts/NunitoSemiBold-italic.fntdata"/><Relationship Id="rId24" Type="http://schemas.openxmlformats.org/officeDocument/2006/relationships/font" Target="fonts/NunitoSemiBold-boldItalic.fntdata"/><Relationship Id="rId25" Type="http://schemas.openxmlformats.org/officeDocument/2006/relationships/font" Target="fonts/Nunito-regular.fntdata"/><Relationship Id="rId26" Type="http://schemas.openxmlformats.org/officeDocument/2006/relationships/font" Target="fonts/Nunito-bold.fntdata"/><Relationship Id="rId27" Type="http://schemas.openxmlformats.org/officeDocument/2006/relationships/font" Target="fonts/Nunito-italic.fntdata"/><Relationship Id="rId28" Type="http://schemas.openxmlformats.org/officeDocument/2006/relationships/font" Target="fonts/Nunito-boldItalic.fntdata"/><Relationship Id="rId29" Type="http://schemas.openxmlformats.org/officeDocument/2006/relationships/font" Target="fonts/NunitoExtraBold-bold.fntdata"/><Relationship Id="rId30" Type="http://schemas.openxmlformats.org/officeDocument/2006/relationships/font" Target="fonts/NunitoExtraBold-boldItalic.fntdata"/><Relationship Id="rId31" Type="http://customschemas.google.com/relationships/presentationmetadata" Target="metadata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ge1a9588eba_0_9"/>
          <p:cNvSpPr txBox="1"/>
          <p:nvPr>
            <p:ph type="ctrTitle"/>
          </p:nvPr>
        </p:nvSpPr>
        <p:spPr>
          <a:xfrm>
            <a:off x="2210208" y="744575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6" name="Google Shape;16;ge1a9588eba_0_9"/>
          <p:cNvSpPr txBox="1"/>
          <p:nvPr>
            <p:ph idx="1" type="subTitle"/>
          </p:nvPr>
        </p:nvSpPr>
        <p:spPr>
          <a:xfrm>
            <a:off x="2210202" y="2834125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e1a9588eba_0_1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9" name="Google Shape;19;ge1a9588eba_0_15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20" name="Google Shape;20;ge1a9588eba_0_1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ge1a9588eba_0_1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23" name="Google Shape;23;ge1a9588eba_0_1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ge1a9588eba_0_19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26" name="Google Shape;26;ge1a9588eba_0_19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{6F3A51EF-184A-46A6-AAA9-DEB9D13C2DF7}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27" name="Google Shape;27;ge1a9588eba_0_1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e1a9588eba_0_23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0" name="Google Shape;30;ge1a9588eba_0_2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ge1a9588eba_0_2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ge1a9588eba_0_23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e1a9588eba_0_28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5" name="Google Shape;35;ge1a9588eba_0_2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e1a9588eba_0_31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8" name="Google Shape;38;ge1a9588eba_0_3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e1a9588eba_0_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ge1a9588eba_0_3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ge1a9588eba_0_3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ge1a9588eba_0_3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44" name="Google Shape;44;ge1a9588eba_0_3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e1a9588eba_0_4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e1a9588eba_0_42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9" name="Google Shape;49;ge1a9588eba_0_42"/>
          <p:cNvPicPr preferRelativeResize="0"/>
          <p:nvPr/>
        </p:nvPicPr>
        <p:blipFill rotWithShape="1">
          <a:blip r:embed="rId2">
            <a:alphaModFix/>
          </a:blip>
          <a:srcRect b="19149" l="42816" r="37294" t="1835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ge1a9588eba_0_42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ge1a9588eba_0_42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52" name="Google Shape;52;ge1a9588eba_0_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5874" y="683275"/>
            <a:ext cx="3757725" cy="825875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ge1a9588eba_0_4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0ee00f67ea_0_104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65" name="Google Shape;65;g10ee00f67ea_0_104"/>
          <p:cNvPicPr preferRelativeResize="0"/>
          <p:nvPr/>
        </p:nvPicPr>
        <p:blipFill rotWithShape="1">
          <a:blip r:embed="rId2">
            <a:alphaModFix/>
          </a:blip>
          <a:srcRect b="19149" l="42816" r="37294" t="1835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g10ee00f67ea_0_104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7" name="Google Shape;67;g10ee00f67ea_0_104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68" name="Google Shape;68;g10ee00f67ea_0_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875" y="769949"/>
            <a:ext cx="3071452" cy="1261275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g10ee00f67ea_0_10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10ee00f67ea_0_71"/>
          <p:cNvSpPr txBox="1"/>
          <p:nvPr>
            <p:ph type="ctrTitle"/>
          </p:nvPr>
        </p:nvSpPr>
        <p:spPr>
          <a:xfrm>
            <a:off x="2210208" y="744575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72" name="Google Shape;72;g10ee00f67ea_0_71"/>
          <p:cNvSpPr txBox="1"/>
          <p:nvPr>
            <p:ph idx="1" type="subTitle"/>
          </p:nvPr>
        </p:nvSpPr>
        <p:spPr>
          <a:xfrm>
            <a:off x="2210202" y="2834125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10ee00f67ea_0_7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75" name="Google Shape;75;g10ee00f67ea_0_7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10ee00f67ea_0_7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8" name="Google Shape;78;g10ee00f67ea_0_77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79" name="Google Shape;79;g10ee00f67ea_0_77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10ee00f67ea_0_8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82" name="Google Shape;82;g10ee00f67ea_0_81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{6F3A51EF-184A-46A6-AAA9-DEB9D13C2DF7}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83" name="Google Shape;83;g10ee00f67ea_0_8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10ee00f67ea_0_8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6" name="Google Shape;86;g10ee00f67ea_0_8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7" name="Google Shape;87;g10ee00f67ea_0_8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8" name="Google Shape;88;g10ee00f67ea_0_8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0ee00f67ea_0_90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91" name="Google Shape;91;g10ee00f67ea_0_9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10ee00f67ea_0_9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94" name="Google Shape;94;g10ee00f67ea_0_93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0ee00f67ea_0_9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g10ee00f67ea_0_96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98" name="Google Shape;98;g10ee00f67ea_0_96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99" name="Google Shape;99;g10ee00f67ea_0_96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100" name="Google Shape;100;g10ee00f67ea_0_96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10ee00f67ea_0_10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e1a9588eba_0_0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7" name="Google Shape;7;ge1a9588eba_0_0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ge1a9588eba_0_0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" name="Google Shape;9;ge1a9588eba_0_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" name="Google Shape;10;ge1a9588eba_0_0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6" cy="5727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ge1a9588eba_0_0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" name="Google Shape;12;ge1a9588eba_0_0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ge1a9588eba_0_0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10ee00f67ea_0_62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0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56" name="Google Shape;56;g10ee00f67ea_0_62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57" name="Google Shape;57;g10ee00f67ea_0_62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8" name="Google Shape;58;g10ee00f67ea_0_6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9" name="Google Shape;59;g10ee00f67ea_0_62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6" cy="5727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0" name="Google Shape;60;g10ee00f67ea_0_62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61" name="Google Shape;61;g10ee00f67ea_0_62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" name="Google Shape;62;g10ee00f67ea_0_62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mc:AlternateContent>
    <mc:Choice Requires="p14">
      <p:transition p14:dur="0">
        <p:fade thruBlk="1"/>
      </p:transition>
    </mc:Choice>
    <mc:Fallback>
      <p:transition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51206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100" b="1">
                <a:solidFill>
                  <a:srgbClr val="12355B"/>
                </a:solidFill>
              </a:rPr>
              <a:t>Insurance Price
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240280"/>
            <a:ext cx="49377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</a:rPr>
              <a:t>Capstone final presentation | Health, lifestyle, habit, and demographic pricing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154680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</a:rPr>
              <a:t>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429000"/>
            <a:ext cx="1645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A9D8F"/>
                </a:solidFill>
              </a:rPr>
              <a:t>25,000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3154680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</a:rPr>
              <a:t>PREDICTORS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3429000"/>
            <a:ext cx="1645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A9D8F"/>
                </a:solidFill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154680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</a:rP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3429000"/>
            <a:ext cx="1645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E76F51"/>
                </a:solidFill>
              </a:rPr>
              <a:t>insurance_cost</a:t>
            </a:r>
          </a:p>
        </p:txBody>
      </p:sp>
      <p:pic>
        <p:nvPicPr>
          <p:cNvPr id="11" name="Picture 10" descr="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051560"/>
            <a:ext cx="288036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2355B"/>
                </a:solidFill>
              </a:rP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41248"/>
            <a:ext cx="1143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07008"/>
            <a:ext cx="804672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Objective: estimate insurance_cost from applicant risk and behavior variables.</a:t>
            </a:r>
          </a:p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insurance_cost is a fixed quote-band grid, not a fully continuous target.</a:t>
            </a:r>
          </a:p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No duplicate rows; applicant_id is unique and removed from modeling.</a:t>
            </a:r>
          </a:p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Key preprocessing: BMI imputation, admission recency, cholesterol midpoint, disease-history and lifestyle features.</a:t>
            </a:r>
          </a:p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Final model: BaseHistGradientBoostingRegressorAlt with test MAE 2,394, RMSE 2,982, and R2 0.956.</a:t>
            </a:r>
          </a:p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Deployment: Streamlit app with raw predicted cost, calibrated cost, nearest quote band, risk category, and model-driver context.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2355B"/>
                </a:solidFill>
              </a:rPr>
              <a:t>Milestone 1 Rubric 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41248"/>
            <a:ext cx="1143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8138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70">
                <a:solidFill>
                  <a:srgbClr val="12355B"/>
                </a:solidFill>
              </a:defRPr>
            </a:pPr>
            <a:r>
              <a:t>Data Report: dataset shape, head/tail/sample checks, data types, unique counts, missingness, duplicates, descriptive statistics, and variable classification.</a:t>
            </a:r>
          </a:p>
          <a:p>
            <a:pPr>
              <a:spcAft>
                <a:spcPts val="300"/>
              </a:spcAft>
              <a:defRPr sz="1070">
                <a:solidFill>
                  <a:srgbClr val="12355B"/>
                </a:solidFill>
              </a:defRPr>
            </a:pPr>
            <a:r>
              <a:t>Initial EDA: target distribution, numeric spread, categorical frequencies, bivariate charts, correlation heatmap, and early insight summaries.</a:t>
            </a:r>
          </a:p>
          <a:p>
            <a:pPr>
              <a:spcAft>
                <a:spcPts val="300"/>
              </a:spcAft>
              <a:defRPr sz="1070">
                <a:solidFill>
                  <a:srgbClr val="12355B"/>
                </a:solidFill>
              </a:defRPr>
            </a:pPr>
            <a:r>
              <a:t>Data Pre-processing: applicant_id removal, typo cleanup, BMI and admission-year missingness treatment, outlier strategy, transformations, and engineered variables.</a:t>
            </a:r>
          </a:p>
          <a:p>
            <a:pPr>
              <a:spcAft>
                <a:spcPts val="300"/>
              </a:spcAft>
              <a:defRPr sz="1070">
                <a:solidFill>
                  <a:srgbClr val="12355B"/>
                </a:solidFill>
              </a:defRPr>
            </a:pPr>
            <a:r>
              <a:t>Extensive EDA: important-variable relationships with technical and business interpretations for weight, admission history, coverage, checkups, weight change, and adventure sports.</a:t>
            </a:r>
          </a:p>
          <a:p>
            <a:pPr>
              <a:spcAft>
                <a:spcPts val="300"/>
              </a:spcAft>
              <a:defRPr sz="1070">
                <a:solidFill>
                  <a:srgbClr val="12355B"/>
                </a:solidFill>
              </a:defRPr>
            </a:pPr>
            <a:r>
              <a:t>Evidence files: Milestone 1 DOCX, executed Milestone 1 notebook/HTML, outputs/reports/milestone1_rubric_coverage_matrix.csv, and supporting figures/tables.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2355B"/>
                </a:solidFill>
              </a:rPr>
              <a:t>Business Problem and Objective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41248"/>
            <a:ext cx="1143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258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Pricing teams need a consistent estimate of likely insurance cost for each applicant.</a:t>
            </a:r>
          </a:p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Inputs combine health metrics, lifestyle habits, disease history, usage behavior, and demographics.</a:t>
            </a:r>
          </a:p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Model output should support pricing triage, wellness programs, and manual review of extreme cases.</a:t>
            </a:r>
          </a:p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The model is positioned as decision support, not the final underwriting authority.</a:t>
            </a:r>
          </a:p>
        </p:txBody>
      </p:sp>
      <p:pic>
        <p:nvPicPr>
          <p:cNvPr id="6" name="Picture 5" descr="cost_by_disease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188720"/>
            <a:ext cx="388620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2355B"/>
                </a:solidFill>
              </a:rPr>
              <a:t>Dataset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41248"/>
            <a:ext cx="1143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16152"/>
            <a:ext cx="1417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</a:rPr>
              <a:t>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90472"/>
            <a:ext cx="14173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A9D8F"/>
                </a:solidFill>
              </a:rPr>
              <a:t>25,000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1216152"/>
            <a:ext cx="1417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</a:rPr>
              <a:t>COLUMNS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1490472"/>
            <a:ext cx="14173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A9D8F"/>
                </a:solidFill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216152"/>
            <a:ext cx="1417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</a:rPr>
              <a:t>DUPLICATES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1490472"/>
            <a:ext cx="14173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E76F51"/>
                </a:solidFill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1216152"/>
            <a:ext cx="14173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</a:rPr>
              <a:t>MISSING BMI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1490472"/>
            <a:ext cx="14173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A9D8F"/>
                </a:solidFill>
              </a:rPr>
              <a:t>990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1216152"/>
            <a:ext cx="1600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</a:rPr>
              <a:t>MISSING ADMISSION YEAR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1490472"/>
            <a:ext cx="1600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A9D8F"/>
                </a:solidFill>
              </a:rPr>
              <a:t>11,881</a:t>
            </a:r>
          </a:p>
        </p:txBody>
      </p:sp>
      <p:pic>
        <p:nvPicPr>
          <p:cNvPr id="15" name="Picture 14" descr="missing_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48840"/>
            <a:ext cx="3886200" cy="2606040"/>
          </a:xfrm>
          <a:prstGeom prst="rect">
            <a:avLst/>
          </a:prstGeom>
        </p:spPr>
      </p:pic>
      <p:pic>
        <p:nvPicPr>
          <p:cNvPr id="16" name="Picture 15" descr="target_box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148840"/>
            <a:ext cx="388620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2355B"/>
                </a:solidFill>
              </a:rPr>
              <a:t>Data Preprocessing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41248"/>
            <a:ext cx="1143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804672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2355B"/>
                </a:solidFill>
              </a:defRPr>
            </a:pPr>
            <a:r>
              <a:t>Renamed three misspelled columns and corrected Salaried occupation label.</a:t>
            </a:r>
          </a:p>
          <a:p>
            <a:pPr>
              <a:spcAft>
                <a:spcPts val="300"/>
              </a:spcAft>
              <a:defRPr sz="1150">
                <a:solidFill>
                  <a:srgbClr val="12355B"/>
                </a:solidFill>
              </a:defRPr>
            </a:pPr>
            <a:r>
              <a:t>Dropped applicant_id before modeling and removed it from app inputs.</a:t>
            </a:r>
          </a:p>
          <a:p>
            <a:pPr>
              <a:spcAft>
                <a:spcPts val="300"/>
              </a:spcAft>
              <a:defRPr sz="1150">
                <a:solidFill>
                  <a:srgbClr val="12355B"/>
                </a:solidFill>
              </a:defRPr>
            </a:pPr>
            <a:r>
              <a:t>Encoded admission history into was_admitted_before, admission_year_missing_flag, admission_status, and years_since_last_admitted.</a:t>
            </a:r>
          </a:p>
          <a:p>
            <a:pPr>
              <a:spcAft>
                <a:spcPts val="300"/>
              </a:spcAft>
              <a:defRPr sz="1150">
                <a:solidFill>
                  <a:srgbClr val="12355B"/>
                </a:solidFill>
              </a:defRPr>
            </a:pPr>
            <a:r>
              <a:t>Added bmi_missing_flag before BMI imputation.</a:t>
            </a:r>
          </a:p>
          <a:p>
            <a:pPr>
              <a:spcAft>
                <a:spcPts val="300"/>
              </a:spcAft>
              <a:defRPr sz="1150">
                <a:solidFill>
                  <a:srgbClr val="12355B"/>
                </a:solidFill>
              </a:defRPr>
            </a:pPr>
            <a:r>
              <a:t>Created age_band, bmi_category, cholesterol_midpoint, any_major_disease_history, weight_bmi_interaction, and steps_per_age.</a:t>
            </a:r>
          </a:p>
          <a:p>
            <a:pPr>
              <a:spcAft>
                <a:spcPts val="300"/>
              </a:spcAft>
              <a:defRPr sz="1150">
                <a:solidFill>
                  <a:srgbClr val="12355B"/>
                </a:solidFill>
              </a:defRPr>
            </a:pPr>
            <a:r>
              <a:t>Used train-fitted preprocessing inside sklearn Pipeline: imputation, scaling, and one-hot encoding.</a:t>
            </a:r>
          </a:p>
          <a:p>
            <a:pPr>
              <a:spcAft>
                <a:spcPts val="300"/>
              </a:spcAft>
              <a:defRPr sz="1150">
                <a:solidFill>
                  <a:srgbClr val="12355B"/>
                </a:solidFill>
              </a:defRPr>
            </a:pPr>
            <a:r>
              <a:t>Retained valid target outliers; capped only extreme BMI values for analysis/model stability.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2355B"/>
                </a:solidFill>
              </a:rPr>
              <a:t>Key EDA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41248"/>
            <a:ext cx="1143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4023360" cy="3520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1325880"/>
            <a:ext cx="3886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2355B"/>
                </a:solidFill>
              </a:defRPr>
            </a:pPr>
            <a:r>
              <a:t>insurance_cost has 54 valid quote bands with a fixed 1,234 step.</a:t>
            </a:r>
          </a:p>
          <a:p>
            <a:pPr>
              <a:spcAft>
                <a:spcPts val="300"/>
              </a:spcAft>
              <a:defRPr sz="1150">
                <a:solidFill>
                  <a:srgbClr val="12355B"/>
                </a:solidFill>
              </a:defRPr>
            </a:pPr>
            <a:r>
              <a:t>Weight is the dominant observed driver and has an extremely strong marginal relationship with cost.</a:t>
            </a:r>
          </a:p>
          <a:p>
            <a:pPr>
              <a:spcAft>
                <a:spcPts val="300"/>
              </a:spcAft>
              <a:defRPr sz="1150">
                <a:solidFill>
                  <a:srgbClr val="12355B"/>
                </a:solidFill>
              </a:defRPr>
            </a:pPr>
            <a:r>
              <a:t>Admission year/recency, other-company coverage, regular checkups, weight change, and adventure sports carry stronger observed signal.</a:t>
            </a:r>
          </a:p>
          <a:p>
            <a:pPr>
              <a:spcAft>
                <a:spcPts val="300"/>
              </a:spcAft>
              <a:defRPr sz="1150">
                <a:solidFill>
                  <a:srgbClr val="12355B"/>
                </a:solidFill>
              </a:defRPr>
            </a:pPr>
            <a:r>
              <a:t>Smoking, alcohol, exercise, BMI, glucose, cholesterol, age, and disease-history flags are weak marginal drivers in this dataset.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2355B"/>
                </a:solidFill>
              </a:rPr>
              <a:t>Feature Engineering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41248"/>
            <a:ext cx="1143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38862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age_band: customer life-stage segmentation.</a:t>
            </a:r>
          </a:p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bmi_category: standard risk categories based on imputed BMI.</a:t>
            </a:r>
          </a:p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cholesterol_midpoint: ordinal range converted to numeric midpoint.</a:t>
            </a:r>
          </a:p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admission recency: prior admission flag plus years since last admission.</a:t>
            </a:r>
          </a:p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risk interactions: disease-history flag, weight x BMI, and steps per age.</a:t>
            </a:r>
          </a:p>
        </p:txBody>
      </p:sp>
      <p:pic>
        <p:nvPicPr>
          <p:cNvPr id="6" name="Picture 5" descr="cost_by_bmi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234440"/>
            <a:ext cx="388620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2355B"/>
                </a:solidFill>
              </a:rPr>
              <a:t>Modeling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41248"/>
            <a:ext cx="1143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0"/>
            <a:ext cx="80467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Split: 80 percent train, 20 percent test, stratified by target quote band.</a:t>
            </a:r>
          </a:p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Baseline models: DummyRegressor and Linear Regression.</a:t>
            </a:r>
          </a:p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Regularized linear model: Ridge.</a:t>
            </a:r>
          </a:p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Tree/ensemble models: Decision Tree, Random Forest, Extra Trees, Gradient Boosting, HistGradientBoosting.</a:t>
            </a:r>
          </a:p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Optional boosting packages available in this run: XGBoost, LightGBM, CatBoost. GPU acceleration was not enabled for this run.</a:t>
            </a:r>
          </a:p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Added repeated CV, calibration, quote-band rounding, and an ordinal price-band challenger.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2355B"/>
                </a:solidFill>
              </a:rPr>
              <a:t>Model Evaluation Metrics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41248"/>
            <a:ext cx="1143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12355B"/>
                </a:solidFill>
              </a:defRPr>
            </a:pPr>
            <a:r>
              <a:t>MAE: average absolute premium error in cost units.</a:t>
            </a:r>
          </a:p>
          <a:p>
            <a:pPr>
              <a:spcAft>
                <a:spcPts val="300"/>
              </a:spcAft>
              <a:defRPr sz="1300">
                <a:solidFill>
                  <a:srgbClr val="12355B"/>
                </a:solidFill>
              </a:defRPr>
            </a:pPr>
            <a:r>
              <a:t>RMSE: penalizes large mispricing errors.</a:t>
            </a:r>
          </a:p>
          <a:p>
            <a:pPr>
              <a:spcAft>
                <a:spcPts val="300"/>
              </a:spcAft>
              <a:defRPr sz="1300">
                <a:solidFill>
                  <a:srgbClr val="12355B"/>
                </a:solidFill>
              </a:defRPr>
            </a:pPr>
            <a:r>
              <a:t>R2: proportion of target variance explained.</a:t>
            </a:r>
          </a:p>
          <a:p>
            <a:pPr>
              <a:spcAft>
                <a:spcPts val="300"/>
              </a:spcAft>
              <a:defRPr sz="1300">
                <a:solidFill>
                  <a:srgbClr val="12355B"/>
                </a:solidFill>
              </a:defRPr>
            </a:pPr>
            <a:r>
              <a:t>MAPE/SMAPE: percentage-style business interpretability.</a:t>
            </a:r>
          </a:p>
          <a:p>
            <a:pPr>
              <a:spcAft>
                <a:spcPts val="300"/>
              </a:spcAft>
              <a:defRPr sz="1300">
                <a:solidFill>
                  <a:srgbClr val="12355B"/>
                </a:solidFill>
              </a:defRPr>
            </a:pPr>
            <a:r>
              <a:t>Train-test gap: checks whether a high-scoring model overfits.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2355B"/>
                </a:solidFill>
              </a:rPr>
              <a:t>Model Performance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41248"/>
            <a:ext cx="1143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del_comparison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4114800" cy="36576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09160" y="1143000"/>
          <a:ext cx="397763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5527"/>
                <a:gridCol w="795527"/>
                <a:gridCol w="795527"/>
                <a:gridCol w="795527"/>
                <a:gridCol w="795531"/>
              </a:tblGrid>
              <a:tr h="406400">
                <a:tc>
                  <a:txBody>
                    <a:bodyPr/>
                    <a:lstStyle/>
                    <a:p>
                      <a:pPr>
                        <a:defRPr sz="58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80" b="1">
                          <a:solidFill>
                            <a:srgbClr val="FFFFFF"/>
                          </a:solidFill>
                        </a:defRPr>
                      </a:pPr>
                      <a:r>
                        <a:t>test_MAE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80" b="1">
                          <a:solidFill>
                            <a:srgbClr val="FFFFFF"/>
                          </a:solidFill>
                        </a:defRPr>
                      </a:pPr>
                      <a:r>
                        <a:t>test_RMSE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80" b="1">
                          <a:solidFill>
                            <a:srgbClr val="FFFFFF"/>
                          </a:solidFill>
                        </a:defRPr>
                      </a:pPr>
                      <a:r>
                        <a:t>test_R2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80" b="1">
                          <a:solidFill>
                            <a:srgbClr val="FFFFFF"/>
                          </a:solidFill>
                        </a:defRPr>
                      </a:pPr>
                      <a:r>
                        <a:t>test_MAPE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HistGradientBoostingRegressor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2,381.45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2,971.15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0.957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11.486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WeightedBlendLightGBMEnhancedHGB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2,379.22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2,971.54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0.957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11.363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WeightedBlendLightGBMBaseHGB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2,381.78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2,973.62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0.957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11.422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TunedHistGradientBoostingRegressor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2,384.88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2,974.42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0.957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11.561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LightGBMRegressor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2,380.64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2,976.28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0.957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11.441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WeightedBlendBaseEnhancedHGB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2,385.27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2,977.46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0.957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11.477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BaseLightGBMRegressor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2,384.11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2,978.07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0.957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11.438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BaseHistGradientBoostingRegressor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2,387.34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2,980.04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0.957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80">
                          <a:solidFill>
                            <a:srgbClr val="12355B"/>
                          </a:solidFill>
                        </a:defRPr>
                      </a:pPr>
                      <a:r>
                        <a:t>11.502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2355B"/>
                </a:solidFill>
              </a:rPr>
              <a:t>Calibration and Quote Bands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41248"/>
            <a:ext cx="1143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43000"/>
          <a:ext cx="41605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2104"/>
                <a:gridCol w="832104"/>
                <a:gridCol w="832104"/>
                <a:gridCol w="832104"/>
                <a:gridCol w="832104"/>
              </a:tblGrid>
              <a:tr h="576072"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FFFFFF"/>
                          </a:solidFill>
                        </a:defRPr>
                      </a:pPr>
                      <a:r>
                        <a:t>variant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FFFFFF"/>
                          </a:solidFill>
                        </a:defRPr>
                      </a:pPr>
                      <a:r>
                        <a:t>MAE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FFFFFF"/>
                          </a:solidFill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FFFFFF"/>
                          </a:solidFill>
                        </a:defRPr>
                      </a:pPr>
                      <a:r>
                        <a:t>exact_band_accuracy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FFFFFF"/>
                          </a:solidFill>
                        </a:defRPr>
                      </a:pPr>
                      <a:r>
                        <a:t>within_2_band_accuracy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raw_continuous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2,393.59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2,982.44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0.159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0.696</a:t>
                      </a:r>
                    </a:p>
                  </a:txBody>
                  <a:tcPr/>
                </a:tc>
              </a:tr>
              <a:tr h="57607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calibrated_continuous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2,404.68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3,009.76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0.167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0.691</a:t>
                      </a:r>
                    </a:p>
                  </a:txBody>
                  <a:tcPr/>
                </a:tc>
              </a:tr>
              <a:tr h="57607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rounded_to_nearest_price_band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2,379.15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3,007.22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0.159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0.696</a:t>
                      </a:r>
                    </a:p>
                  </a:txBody>
                  <a:tcPr/>
                </a:tc>
              </a:tr>
              <a:tr h="57607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calibrated_then_rounded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2,389.76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3,030.77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0.167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0.691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" name="Picture 5" descr="calibrat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097280"/>
            <a:ext cx="3749039" cy="3154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51960"/>
            <a:ext cx="8092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80">
                <a:solidFill>
                  <a:srgbClr val="12355B"/>
                </a:solidFill>
              </a:defRPr>
            </a:pPr>
            <a:r>
              <a:t>Rounding the selected raw prediction to the nearest valid quote band is useful for business presentation.</a:t>
            </a:r>
          </a:p>
          <a:p>
            <a:pPr>
              <a:spcAft>
                <a:spcPts val="300"/>
              </a:spcAft>
              <a:defRPr sz="880">
                <a:solidFill>
                  <a:srgbClr val="12355B"/>
                </a:solidFill>
              </a:defRPr>
            </a:pPr>
            <a:r>
              <a:t>Calibration is reported separately because it improves some percentage/band metrics but not MAE/RMSE.</a:t>
            </a:r>
          </a:p>
          <a:p>
            <a:pPr>
              <a:spcAft>
                <a:spcPts val="300"/>
              </a:spcAft>
              <a:defRPr sz="880">
                <a:solidFill>
                  <a:srgbClr val="12355B"/>
                </a:solidFill>
              </a:defRPr>
            </a:pPr>
            <a:r>
              <a:t>Exact band accuracy is hard because there are 54 target bands; within-band accuracy is more informative.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2355B"/>
                </a:solidFill>
              </a:rPr>
              <a:t>Final Model and Explainability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41248"/>
            <a:ext cx="1143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3886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20">
                <a:solidFill>
                  <a:srgbClr val="12355B"/>
                </a:solidFill>
              </a:defRPr>
            </a:pPr>
            <a:r>
              <a:t>Selected model: BaseHistGradientBoostingRegressorAlt.</a:t>
            </a:r>
          </a:p>
          <a:p>
            <a:pPr>
              <a:spcAft>
                <a:spcPts val="300"/>
              </a:spcAft>
              <a:defRPr sz="1120">
                <a:solidFill>
                  <a:srgbClr val="12355B"/>
                </a:solidFill>
              </a:defRPr>
            </a:pPr>
            <a:r>
              <a:t>Test MAE 2,394; test RMSE 2,982; test R2 0.956.</a:t>
            </a:r>
          </a:p>
          <a:p>
            <a:pPr>
              <a:spcAft>
                <a:spcPts val="300"/>
              </a:spcAft>
              <a:defRPr sz="1120">
                <a:solidFill>
                  <a:srgbClr val="12355B"/>
                </a:solidFill>
              </a:defRPr>
            </a:pPr>
            <a:r>
              <a:t>Selected through the parsimony/stability rule; the best test-RMSE model is reported separately in the metrics table.</a:t>
            </a:r>
          </a:p>
          <a:p>
            <a:pPr>
              <a:spcAft>
                <a:spcPts val="300"/>
              </a:spcAft>
              <a:defRPr sz="1120">
                <a:solidFill>
                  <a:srgbClr val="12355B"/>
                </a:solidFill>
              </a:defRPr>
            </a:pPr>
            <a:r>
              <a:t>Top drivers are led by weight, admission/coverage/checkup/weight-change signals, with weaker marginal effects for many lifestyle flags.</a:t>
            </a:r>
          </a:p>
          <a:p>
            <a:pPr>
              <a:spcAft>
                <a:spcPts val="300"/>
              </a:spcAft>
              <a:defRPr sz="1120">
                <a:solidFill>
                  <a:srgbClr val="12355B"/>
                </a:solidFill>
              </a:defRPr>
            </a:pPr>
            <a:r>
              <a:t>SHAP importance was generated for BaseLightGBMRegressor; permutation importance remains the deployed raw-column explanation.</a:t>
            </a:r>
          </a:p>
        </p:txBody>
      </p:sp>
      <p:pic>
        <p:nvPicPr>
          <p:cNvPr id="6" name="Picture 5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143000"/>
            <a:ext cx="3977639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2355B"/>
                </a:solidFill>
              </a:rPr>
              <a:t>Streamlit Deployment Showcase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41248"/>
            <a:ext cx="1143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reamlit_deployment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43000"/>
            <a:ext cx="8138160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645152"/>
            <a:ext cx="7680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12355B"/>
                </a:solidFill>
              </a:rPr>
              <a:t>Run with: streamlit run app.py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2355B"/>
                </a:solidFill>
              </a:rPr>
              <a:t>Business Recommendations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41248"/>
            <a:ext cx="1143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0"/>
            <a:ext cx="804672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Use quote-band output for business communication while retaining raw prediction for analytics.</a:t>
            </a:r>
          </a:p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Prioritize review of weight and admission-related policy alignment because those variables dominate this dataset.</a:t>
            </a:r>
          </a:p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Use preventive checkup campaigns carefully as observational association, not proof of causal premium reduction.</a:t>
            </a:r>
          </a:p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Add manual review for extreme predictions before quoting final premiums.</a:t>
            </a:r>
          </a:p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Monitor Gender and Location effects for compliance and fairness risk.</a:t>
            </a:r>
          </a:p>
          <a:p>
            <a:pPr>
              <a:spcAft>
                <a:spcPts val="300"/>
              </a:spcAft>
              <a:defRPr sz="1200">
                <a:solidFill>
                  <a:srgbClr val="12355B"/>
                </a:solidFill>
              </a:defRPr>
            </a:pPr>
            <a:r>
              <a:t>Track drift, segment error, and premium conversion after deployment.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2355B"/>
                </a:solidFill>
              </a:rPr>
              <a:t>Risks, Limitations, and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41248"/>
            <a:ext cx="1143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38862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80">
                <a:solidFill>
                  <a:srgbClr val="12355B"/>
                </a:solidFill>
              </a:defRPr>
            </a:pPr>
            <a:r>
              <a:t>Dataset provenance and real production pricing rules are not specified.</a:t>
            </a:r>
          </a:p>
          <a:p>
            <a:pPr>
              <a:spcAft>
                <a:spcPts val="300"/>
              </a:spcAft>
              <a:defRPr sz="1180">
                <a:solidFill>
                  <a:srgbClr val="12355B"/>
                </a:solidFill>
              </a:defRPr>
            </a:pPr>
            <a:r>
              <a:t>Target is discretized, likely reflecting historical pricing bands.</a:t>
            </a:r>
          </a:p>
          <a:p>
            <a:pPr>
              <a:spcAft>
                <a:spcPts val="300"/>
              </a:spcAft>
              <a:defRPr sz="1180">
                <a:solidFill>
                  <a:srgbClr val="12355B"/>
                </a:solidFill>
              </a:defRPr>
            </a:pPr>
            <a:r>
              <a:t>Weight dominates; validate against business pricing policy and fairness expectations.</a:t>
            </a:r>
          </a:p>
          <a:p>
            <a:pPr>
              <a:spcAft>
                <a:spcPts val="300"/>
              </a:spcAft>
              <a:defRPr sz="1180">
                <a:solidFill>
                  <a:srgbClr val="12355B"/>
                </a:solidFill>
              </a:defRPr>
            </a:pPr>
            <a:r>
              <a:t>All predictors must be confirmed available at quote time before real deployment.</a:t>
            </a:r>
          </a:p>
          <a:p>
            <a:pPr>
              <a:spcAft>
                <a:spcPts val="300"/>
              </a:spcAft>
              <a:defRPr sz="1180">
                <a:solidFill>
                  <a:srgbClr val="12355B"/>
                </a:solidFill>
              </a:defRPr>
            </a:pPr>
            <a:r>
              <a:t>Gender and Location require governance review.</a:t>
            </a:r>
          </a:p>
          <a:p>
            <a:pPr>
              <a:spcAft>
                <a:spcPts val="300"/>
              </a:spcAft>
              <a:defRPr sz="1180">
                <a:solidFill>
                  <a:srgbClr val="12355B"/>
                </a:solidFill>
              </a:defRPr>
            </a:pPr>
            <a:r>
              <a:t>Next: add calibration checks, monitoring dashboards, challenger models, and periodic retraining.</a:t>
            </a:r>
          </a:p>
        </p:txBody>
      </p:sp>
      <p:pic>
        <p:nvPicPr>
          <p:cNvPr id="6" name="Picture 5" descr="residu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234440"/>
            <a:ext cx="388620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2355B"/>
                </a:solidFill>
              </a:rPr>
              <a:t>Appendix: Data Dictionary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41248"/>
            <a:ext cx="1143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051560"/>
          <a:ext cx="81381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4540"/>
                <a:gridCol w="2034540"/>
                <a:gridCol w="2034540"/>
                <a:gridCol w="2034540"/>
              </a:tblGrid>
              <a:tr h="288387">
                <a:tc>
                  <a:txBody>
                    <a:bodyPr/>
                    <a:lstStyle/>
                    <a:p>
                      <a:pPr>
                        <a:defRPr sz="500" b="1">
                          <a:solidFill>
                            <a:srgbClr val="FFFFFF"/>
                          </a:solidFill>
                        </a:defRPr>
                      </a:pPr>
                      <a:r>
                        <a:t>clean_column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 b="1">
                          <a:solidFill>
                            <a:srgbClr val="FFFFFF"/>
                          </a:solidFill>
                        </a:defRPr>
                      </a:pPr>
                      <a:r>
                        <a:t>dtype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 b="1">
                          <a:solidFill>
                            <a:srgbClr val="FFFFFF"/>
                          </a:solidFill>
                        </a:defRPr>
                      </a:pPr>
                      <a:r>
                        <a:t>missing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500" b="1">
                          <a:solidFill>
                            <a:srgbClr val="FFFFFF"/>
                          </a:solidFill>
                        </a:defRPr>
                      </a:pPr>
                      <a:r>
                        <a:t>unique_values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</a:tr>
              <a:tr h="288387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applicant_id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int64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25000</a:t>
                      </a:r>
                    </a:p>
                  </a:txBody>
                  <a:tcPr/>
                </a:tc>
              </a:tr>
              <a:tr h="288387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years_of_insurance_with_us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int64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</a:tr>
              <a:tr h="288387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regular_checkup_last_year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int64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288387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adventure_sports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int64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288387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Occupation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288387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visited_doctor_last_1_year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int64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</a:tr>
              <a:tr h="288387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cholesterol_level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288387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daily_avg_steps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int64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4914</a:t>
                      </a:r>
                    </a:p>
                  </a:txBody>
                  <a:tcPr/>
                </a:tc>
              </a:tr>
              <a:tr h="288387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int64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</a:tr>
              <a:tr h="288387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heart_disease_history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int64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288387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other_major_disease_history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int64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288395"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Gender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500">
                          <a:solidFill>
                            <a:srgbClr val="12355B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2355B"/>
                </a:solidFill>
              </a:rPr>
              <a:t>Appendix: Additional EDA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41248"/>
            <a:ext cx="1143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st_by_smo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43000"/>
            <a:ext cx="3886200" cy="3566160"/>
          </a:xfrm>
          <a:prstGeom prst="rect">
            <a:avLst/>
          </a:prstGeom>
        </p:spPr>
      </p:pic>
      <p:pic>
        <p:nvPicPr>
          <p:cNvPr id="6" name="Picture 5" descr="cost_by_exerc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143000"/>
            <a:ext cx="388620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1381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2355B"/>
                </a:solidFill>
              </a:rPr>
              <a:t>Appendix: Model Details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41248"/>
            <a:ext cx="1143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43000"/>
          <a:ext cx="38862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/>
                <a:gridCol w="1295400"/>
                <a:gridCol w="1295400"/>
              </a:tblGrid>
              <a:tr h="340821"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FFFFFF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FFFFFF"/>
                          </a:solidFill>
                        </a:defRPr>
                      </a:pPr>
                      <a:r>
                        <a:t>importance_mean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FFFFFF"/>
                          </a:solidFill>
                        </a:defRPr>
                      </a:pPr>
                      <a:r>
                        <a:t>importance_std</a:t>
                      </a:r>
                    </a:p>
                  </a:txBody>
                  <a:tcPr>
                    <a:solidFill>
                      <a:srgbClr val="12355B"/>
                    </a:solidFill>
                  </a:tcPr>
                </a:tc>
              </a:tr>
              <a:tr h="340821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16,311.43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172.85</a:t>
                      </a:r>
                    </a:p>
                  </a:txBody>
                  <a:tcPr/>
                </a:tc>
              </a:tr>
              <a:tr h="340821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Year_last_admitted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271.82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11.451</a:t>
                      </a:r>
                    </a:p>
                  </a:txBody>
                  <a:tcPr/>
                </a:tc>
              </a:tr>
              <a:tr h="340821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covered_by_any_other_company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136.06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11.920</a:t>
                      </a:r>
                    </a:p>
                  </a:txBody>
                  <a:tcPr/>
                </a:tc>
              </a:tr>
              <a:tr h="340821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regular_checkup_last_year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97.703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13.137</a:t>
                      </a:r>
                    </a:p>
                  </a:txBody>
                  <a:tcPr/>
                </a:tc>
              </a:tr>
              <a:tr h="340821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weight_change_in_last_one_year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39.644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3.862</a:t>
                      </a:r>
                    </a:p>
                  </a:txBody>
                  <a:tcPr/>
                </a:tc>
              </a:tr>
              <a:tr h="340821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years_of_insurance_with_us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31.874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4.810</a:t>
                      </a:r>
                    </a:p>
                  </a:txBody>
                  <a:tcPr/>
                </a:tc>
              </a:tr>
              <a:tr h="340821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exercise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2.440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0.791</a:t>
                      </a:r>
                    </a:p>
                  </a:txBody>
                  <a:tcPr/>
                </a:tc>
              </a:tr>
              <a:tr h="340821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avg_glucose_level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2.185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1.264</a:t>
                      </a:r>
                    </a:p>
                  </a:txBody>
                  <a:tcPr/>
                </a:tc>
              </a:tr>
              <a:tr h="340821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1.340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0.710</a:t>
                      </a:r>
                    </a:p>
                  </a:txBody>
                  <a:tcPr/>
                </a:tc>
              </a:tr>
              <a:tr h="340829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smoking_status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1.148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12355B"/>
                          </a:solidFill>
                        </a:defRPr>
                      </a:pPr>
                      <a:r>
                        <a:t>0.805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" name="Picture 5" descr="predicted_v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143000"/>
            <a:ext cx="3886200" cy="3703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222222"/>
      </a:dk1>
      <a:lt1>
        <a:srgbClr val="FFFFFF"/>
      </a:lt1>
      <a:dk2>
        <a:srgbClr val="222222"/>
      </a:dk2>
      <a:lt2>
        <a:srgbClr val="0E39A9"/>
      </a:lt2>
      <a:accent1>
        <a:srgbClr val="FFAB40"/>
      </a:accent1>
      <a:accent2>
        <a:srgbClr val="6F4294"/>
      </a:accent2>
      <a:accent3>
        <a:srgbClr val="FFA000"/>
      </a:accent3>
      <a:accent4>
        <a:srgbClr val="FFAB40"/>
      </a:accent4>
      <a:accent5>
        <a:srgbClr val="FFDF00"/>
      </a:accent5>
      <a:accent6>
        <a:srgbClr val="1974D5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Nishchay Sahu</dc:creator>
</cp:coreProperties>
</file>