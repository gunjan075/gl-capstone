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Nunito SemiBold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Nunito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0zUqa6F0VHpBTiiW8BhshF6Qk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3A51EF-184A-46A6-AAA9-DEB9D13C2DF7}">
  <a:tblStyle styleId="{6F3A51EF-184A-46A6-AAA9-DEB9D13C2DF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NunitoSemiBold-bold.fntdata"/><Relationship Id="rId21" Type="http://schemas.openxmlformats.org/officeDocument/2006/relationships/font" Target="fonts/NunitoSemiBold-regular.fntdata"/><Relationship Id="rId24" Type="http://schemas.openxmlformats.org/officeDocument/2006/relationships/font" Target="fonts/NunitoSemiBold-boldItalic.fntdata"/><Relationship Id="rId23" Type="http://schemas.openxmlformats.org/officeDocument/2006/relationships/font" Target="fonts/Nunito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ExtraBol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font" Target="fonts/NunitoExtraBold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0e9006cb6c_1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10e9006cb6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0e9006cb6c_1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10e9006cb6c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2e69c1b7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272e69c1b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0e9006cb6c_1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10e9006cb6c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0ae355dec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10ae355de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0e9006cb6c_1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10e9006cb6c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0ee00f67ea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10ee00f67ea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10ee00f67ea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10ee00f67ea_0_5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e1a9588eba_0_9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ge1a9588eba_0_9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e1a9588eba_0_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ge1a9588eba_0_1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ge1a9588eba_0_1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e1a9588eba_0_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ge1a9588eba_0_1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e1a9588eba_0_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ge1a9588eba_0_1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{6F3A51EF-184A-46A6-AAA9-DEB9D13C2DF7}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ge1a9588eba_0_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e1a9588eba_0_2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ge1a9588eba_0_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e1a9588eba_0_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e1a9588eba_0_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e1a9588eba_0_2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ge1a9588eba_0_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e1a9588eba_0_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e1a9588eba_0_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e1a9588eba_0_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e1a9588eba_0_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e1a9588eba_0_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e1a9588eba_0_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ge1a9588eba_0_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e1a9588eba_0_4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9588eba_0_42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ge1a9588eba_0_42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e1a9588eba_0_42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e1a9588eba_0_42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ge1a9588eba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ge1a9588eba_0_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0ee00f67ea_0_104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65" name="Google Shape;65;g10ee00f67ea_0_104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10ee00f67ea_0_104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g10ee00f67ea_0_104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68" name="Google Shape;68;g10ee00f67ea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10ee00f67ea_0_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0ee00f67ea_0_71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2" name="Google Shape;72;g10ee00f67ea_0_71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0ee00f67ea_0_7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75" name="Google Shape;75;g10ee00f67ea_0_7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0ee00f67ea_0_7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8" name="Google Shape;78;g10ee00f67ea_0_7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9" name="Google Shape;79;g10ee00f67ea_0_7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ee00f67ea_0_8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82" name="Google Shape;82;g10ee00f67ea_0_81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{6F3A51EF-184A-46A6-AAA9-DEB9D13C2DF7}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83" name="Google Shape;83;g10ee00f67ea_0_8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0ee00f67ea_0_8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g10ee00f67ea_0_8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7" name="Google Shape;87;g10ee00f67ea_0_8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g10ee00f67ea_0_8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0ee00f67ea_0_9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1" name="Google Shape;91;g10ee00f67ea_0_9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ee00f67ea_0_9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4" name="Google Shape;94;g10ee00f67ea_0_9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ee00f67ea_0_9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10ee00f67ea_0_9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8" name="Google Shape;98;g10ee00f67ea_0_9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" name="Google Shape;99;g10ee00f67ea_0_9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00" name="Google Shape;100;g10ee00f67ea_0_9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0ee00f67ea_0_10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e1a9588eba_0_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ge1a9588eba_0_0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ge1a9588eba_0_0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ge1a9588eba_0_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ge1a9588eba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ge1a9588eba_0_0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ge1a9588eba_0_0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e1a9588eba_0_0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0ee00f67ea_0_6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56" name="Google Shape;56;g10ee00f67ea_0_62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7" name="Google Shape;57;g10ee00f67ea_0_62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" name="Google Shape;58;g10ee00f67ea_0_6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g10ee00f67ea_0_6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g10ee00f67ea_0_62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1" name="Google Shape;61;g10ee00f67ea_0_62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10ee00f67ea_0_62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p14:dur="0">
        <p:fade thruBlk="1"/>
      </p:transition>
    </mc:Choice>
    <mc:Fallback>
      <p:transition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1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/>
              <a:t>Presentation Title</a:t>
            </a:r>
            <a:endParaRPr sz="3600"/>
          </a:p>
        </p:txBody>
      </p:sp>
      <p:sp>
        <p:nvSpPr>
          <p:cNvPr id="108" name="Google Shape;108;p1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3000"/>
              <a:t>Project and Course Name</a:t>
            </a:r>
            <a:endParaRPr b="0" sz="3000"/>
          </a:p>
        </p:txBody>
      </p:sp>
      <p:sp>
        <p:nvSpPr>
          <p:cNvPr id="109" name="Google Shape;109;p1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br>
              <a:rPr b="0" lang="en" sz="1600"/>
            </a:br>
            <a:r>
              <a:rPr b="0" lang="en" sz="1600"/>
              <a:t>Group Members:</a:t>
            </a:r>
            <a:endParaRPr b="0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Guidelines – Quality of Slides (Structure/flow)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2545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It is important that the slides look clean. There should be no ambiguity in statements.</a:t>
            </a:r>
            <a:endParaRPr/>
          </a:p>
          <a:p>
            <a:pPr indent="-285750" lvl="0" marL="42545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Tables and diagrams should not look cluttered on slides.</a:t>
            </a:r>
            <a:endParaRPr/>
          </a:p>
          <a:p>
            <a:pPr indent="-285750" lvl="0" marL="42545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It is important to have crisp content. Instead of long sentences and paragraphs, use keywords and bullet points.</a:t>
            </a:r>
            <a:endParaRPr/>
          </a:p>
          <a:p>
            <a:pPr indent="-285750" lvl="0" marL="42545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/>
              <a:t>A clear structure and workflow are required: Business problem, data description, visualization, modeling, and recommendations.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1000"/>
              </a:spcAft>
              <a:buSzPts val="1500"/>
              <a:buNone/>
            </a:pPr>
            <a:r>
              <a:rPr b="1" lang="en"/>
              <a:t>Note : This slide should not be included in the presentation. These are only the generic guidelines to prepare a good presentation.</a:t>
            </a:r>
            <a:endParaRPr b="1"/>
          </a:p>
        </p:txBody>
      </p:sp>
      <p:sp>
        <p:nvSpPr>
          <p:cNvPr id="116" name="Google Shape;116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Contents / Agenda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22" name="Google Shape;122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Executive Summary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EDA Outcomes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Selection and Metrics of Interest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Performance Summary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Appendix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23" name="Google Shape;123;p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0e9006cb6c_1_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Executive Summary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9" name="Google Shape;129;g10e9006cb6c_1_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Brief problem background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Summary of procedures.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Mention actionable insights &amp; business recommendations.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Mention benefits and risks of the proposed solution.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Provide further analysis and problems to be solved.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b="1" lang="en" sz="1400">
                <a:solidFill>
                  <a:srgbClr val="000000"/>
                </a:solidFill>
              </a:rPr>
              <a:t>Note:</a:t>
            </a:r>
            <a:r>
              <a:rPr lang="en" sz="1400">
                <a:solidFill>
                  <a:srgbClr val="000000"/>
                </a:solidFill>
              </a:rPr>
              <a:t> There is no need to add a separate slide mentioning insights and recommendations towards the end of the presentation.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30" name="Google Shape;130;g10e9006cb6c_1_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Business Problem Overview and Solution Approach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36" name="Google Shape;136;p3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Define the problem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Solution approach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37" name="Google Shape;137;p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0e9006cb6c_1_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Exploratory Data Analysis (EDA)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43" name="Google Shape;143;g10e9006cb6c_1_7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Mention the key outcomes from EDA</a:t>
            </a:r>
            <a:endParaRPr sz="1400">
              <a:solidFill>
                <a:srgbClr val="000000"/>
              </a:solidFill>
            </a:endParaRPr>
          </a:p>
          <a:p>
            <a:pPr indent="0" lvl="0" marL="1397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1. You can use more than one slide if needed. 2. Some of the important visualization can be added in the appendix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rPr i="1" lang="en" sz="1200">
                <a:solidFill>
                  <a:srgbClr val="000000"/>
                </a:solidFill>
              </a:rPr>
              <a:t> </a:t>
            </a:r>
            <a:endParaRPr i="1" sz="1200">
              <a:solidFill>
                <a:srgbClr val="000000"/>
              </a:solidFill>
            </a:endParaRPr>
          </a:p>
        </p:txBody>
      </p:sp>
      <p:sp>
        <p:nvSpPr>
          <p:cNvPr id="144" name="Google Shape;144;g10e9006cb6c_1_7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action="ppaction://hlinksldjump" r:id="rId3"/>
              </a:rPr>
              <a:t>Link to Appendix slide on data background check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5" name="Google Shape;145;g10e9006cb6c_1_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Data Preprocessing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1" name="Google Shape;151;p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Duplicate value check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Missing value treatment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Outlier check (</a:t>
            </a:r>
            <a:r>
              <a:rPr lang="en" sz="1400">
                <a:solidFill>
                  <a:srgbClr val="2D3B45"/>
                </a:solidFill>
                <a:highlight>
                  <a:schemeClr val="lt1"/>
                </a:highlight>
              </a:rPr>
              <a:t>treatment </a:t>
            </a: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if needed)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Feature engineering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Data preparation for modeling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Any other key steps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i="1" lang="en" sz="1200">
                <a:solidFill>
                  <a:srgbClr val="000000"/>
                </a:solidFill>
              </a:rPr>
              <a:t>Note</a:t>
            </a:r>
            <a:r>
              <a:rPr i="1" lang="en" sz="1200">
                <a:solidFill>
                  <a:srgbClr val="000000"/>
                </a:solidFill>
              </a:rPr>
              <a:t>: You can use more than one slide if needed 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</p:txBody>
      </p:sp>
      <p:sp>
        <p:nvSpPr>
          <p:cNvPr id="152" name="Google Shape;152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72e69c1b70_0_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Selection and Metrics of Interest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58" name="Google Shape;158;g272e69c1b70_0_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Summary of models selected to solve the problem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/>
              <a:t>Selection of the metrics of interest and justification about the selection.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i="1" lang="en" sz="1200">
                <a:solidFill>
                  <a:srgbClr val="000000"/>
                </a:solidFill>
              </a:rPr>
              <a:t>You can use more than one slide if needed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lang="en" sz="1400">
                <a:solidFill>
                  <a:srgbClr val="000000"/>
                </a:solidFill>
              </a:rPr>
              <a:t>Note: 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en" sz="1400">
                <a:solidFill>
                  <a:srgbClr val="000000"/>
                </a:solidFill>
              </a:rPr>
              <a:t>Some of the information may not be possible to add to the slide, but when asked, the team should present it with an explanation.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i="1"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59" name="Google Shape;159;g272e69c1b70_0_0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0" name="Google Shape;160;g272e69c1b70_0_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Performance Summary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66" name="Google Shape;166;p6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Summary of key performance metrics for training and test data of all the models in tabular format for comparison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Overview of the final ML model and its parameters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Summary of most important features used by the model for prediction</a:t>
            </a:r>
            <a:endParaRPr sz="1400"/>
          </a:p>
          <a:p>
            <a:pPr indent="-3175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/>
              <a:t>A clear explanation of the impact of the model findings on business should be provided so that business clients can take away a clear message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i="1" lang="en" sz="1200">
                <a:solidFill>
                  <a:srgbClr val="000000"/>
                </a:solidFill>
              </a:rPr>
              <a:t>You can use more than one slide if needed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b="1" lang="en" sz="1400">
                <a:solidFill>
                  <a:srgbClr val="000000"/>
                </a:solidFill>
              </a:rPr>
              <a:t>Note: 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rPr lang="en" sz="1400">
                <a:solidFill>
                  <a:srgbClr val="000000"/>
                </a:solidFill>
              </a:rPr>
              <a:t>Some of the information may not be possible to add to the slide, but when asked, the team should present it with an explanation.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i="1"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0e9006cb6c_1_20"/>
          <p:cNvSpPr txBox="1"/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</a:rPr>
              <a:t>APPENDIX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0ae355dec7_0_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Data Background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79" name="Google Shape;179;g10ae355dec7_0_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Mention the data background like data </a:t>
            </a:r>
            <a:r>
              <a:rPr lang="en" sz="1400">
                <a:solidFill>
                  <a:schemeClr val="dk1"/>
                </a:solidFill>
              </a:rPr>
              <a:t>dictionary</a:t>
            </a:r>
            <a:r>
              <a:rPr lang="en" sz="1400">
                <a:solidFill>
                  <a:schemeClr val="dk1"/>
                </a:solidFill>
              </a:rPr>
              <a:t>, and size of the data.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0" name="Google Shape;180;g10ae355dec7_0_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0e9006cb6c_1_2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Slide Header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86" name="Google Shape;186;g10e9006cb6c_1_28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Add other pointers (if needed)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7" name="Google Shape;187;g10e9006cb6c_1_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0ee00f67ea_0_55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95" name="Google Shape;195;g10ee00f67ea_0_55"/>
          <p:cNvSpPr txBox="1"/>
          <p:nvPr>
            <p:ph idx="4294967295" type="sldNum"/>
          </p:nvPr>
        </p:nvSpPr>
        <p:spPr>
          <a:xfrm>
            <a:off x="8556784" y="3562388"/>
            <a:ext cx="5487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g10ee00f67ea_0_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Nishchay Sahu</dc:creator>
</cp:coreProperties>
</file>